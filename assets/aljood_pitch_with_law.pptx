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id="5" name="Rectangle 4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>
                <a:solidFill>
                  <a:srgbClr val="C9A84C"/>
                </a:solidFill>
                <a:latin typeface="Noto Sans Arabic"/>
              </a:rPr>
              <a:t>السياق الوطني: قانون سلامة الطفل الرقمي</a:t>
            </a:r>
          </a:p>
          <a:p>
            <a:pPr algn="r"/>
            <a:r>
              <a:rPr sz="1300" b="0">
                <a:solidFill>
                  <a:srgbClr val="CCCCCC"/>
                </a:solidFill>
                <a:latin typeface="Noto Sans Arabic"/>
              </a:rPr>
              <a:t>UAE Federal Decree No. 2 / 2026 — Child Digital Safety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>
                <a:solidFill>
                  <a:srgbClr val="C9A84C"/>
                </a:solidFill>
                <a:latin typeface="Noto Sans Arabic"/>
              </a:rPr>
              <a:t>2026</a:t>
            </a:r>
          </a:p>
          <a:p>
            <a:pPr algn="ctr"/>
            <a:r>
              <a:rPr sz="2400" b="1">
                <a:solidFill>
                  <a:srgbClr val="FFFFFF"/>
                </a:solidFill>
                <a:latin typeface="Noto Sans Arabic"/>
              </a:rPr>
              <a:t>قانون</a:t>
            </a:r>
          </a:p>
          <a:p>
            <a:pPr algn="ctr"/>
            <a:r>
              <a:rPr sz="1600" b="0">
                <a:solidFill>
                  <a:srgbClr val="F3E5B8"/>
                </a:solidFill>
                <a:latin typeface="Noto Sans Arabic"/>
              </a:rPr>
              <a:t>سلامة الطفل الرقمي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9966960" cy="1463040"/>
          </a:xfrm>
          <a:prstGeom prst="rect">
            <a:avLst/>
          </a:prstGeom>
          <a:solidFill>
            <a:srgbClr val="1E345C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128016" cy="1463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148840"/>
            <a:ext cx="658368" cy="6583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2A4A"/>
                </a:solidFill>
                <a:latin typeface="Noto Sans Arab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874519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Noto Sans Arabic"/>
              </a:rPr>
              <a:t>حماية البيانات الرقمية للطلاب</a:t>
            </a:r>
          </a:p>
          <a:p>
            <a:pPr algn="r"/>
            <a:r>
              <a:rPr sz="1100" b="0">
                <a:solidFill>
                  <a:srgbClr val="CCCCCC"/>
                </a:solidFill>
                <a:latin typeface="Noto Sans Arabic"/>
              </a:rPr>
              <a:t>Student Digital Data Protection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10128"/>
            <a:ext cx="9966960" cy="1463040"/>
          </a:xfrm>
          <a:prstGeom prst="rect">
            <a:avLst/>
          </a:prstGeom>
          <a:solidFill>
            <a:srgbClr val="1E345C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310128"/>
            <a:ext cx="128016" cy="1463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721608"/>
            <a:ext cx="658368" cy="6583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2A4A"/>
                </a:solidFill>
                <a:latin typeface="Noto Sans Arab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447288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Noto Sans Arabic"/>
              </a:rPr>
              <a:t>توثيق هوية المستخدمين</a:t>
            </a:r>
          </a:p>
          <a:p>
            <a:pPr algn="r"/>
            <a:r>
              <a:rPr sz="1100" b="0">
                <a:solidFill>
                  <a:srgbClr val="CCCCCC"/>
                </a:solidFill>
                <a:latin typeface="Noto Sans Arabic"/>
              </a:rPr>
              <a:t>User Identity Verification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82896"/>
            <a:ext cx="9966960" cy="1463040"/>
          </a:xfrm>
          <a:prstGeom prst="rect">
            <a:avLst/>
          </a:prstGeom>
          <a:solidFill>
            <a:srgbClr val="1E345C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882896"/>
            <a:ext cx="128016" cy="1463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294376"/>
            <a:ext cx="658368" cy="6583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2A4A"/>
                </a:solidFill>
                <a:latin typeface="Noto Sans Arab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20056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Noto Sans Arabic"/>
              </a:rPr>
              <a:t>رقابة أولياء الأمور</a:t>
            </a:r>
          </a:p>
          <a:p>
            <a:pPr algn="r"/>
            <a:r>
              <a:rPr sz="1100" b="0">
                <a:solidFill>
                  <a:srgbClr val="CCCCCC"/>
                </a:solidFill>
                <a:latin typeface="Noto Sans Arabic"/>
              </a:rPr>
              <a:t>Parental Monitoring &amp; Control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455664"/>
            <a:ext cx="9966960" cy="1463040"/>
          </a:xfrm>
          <a:prstGeom prst="rect">
            <a:avLst/>
          </a:prstGeom>
          <a:solidFill>
            <a:srgbClr val="1E345C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6455664"/>
            <a:ext cx="128016" cy="1463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6867144"/>
            <a:ext cx="658368" cy="6583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2A4A"/>
                </a:solidFill>
                <a:latin typeface="Noto Sans Arab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592824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Noto Sans Arabic"/>
              </a:rPr>
              <a:t>الإبلاغ الفوري عن الاختراقات</a:t>
            </a:r>
          </a:p>
          <a:p>
            <a:pPr algn="r"/>
            <a:r>
              <a:rPr sz="1100" b="0">
                <a:solidFill>
                  <a:srgbClr val="CCCCCC"/>
                </a:solidFill>
                <a:latin typeface="Noto Sans Arabic"/>
              </a:rPr>
              <a:t>Mandatory Breach Reporting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8028432"/>
            <a:ext cx="9966960" cy="1463040"/>
          </a:xfrm>
          <a:prstGeom prst="rect">
            <a:avLst/>
          </a:prstGeom>
          <a:solidFill>
            <a:srgbClr val="1E345C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8028432"/>
            <a:ext cx="128016" cy="1463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8439912"/>
            <a:ext cx="658368" cy="6583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2A4A"/>
                </a:solidFill>
                <a:latin typeface="Noto Sans Arab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8165592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Noto Sans Arabic"/>
              </a:rPr>
              <a:t>ضبط صلاحيات الوصول</a:t>
            </a:r>
          </a:p>
          <a:p>
            <a:pPr algn="r"/>
            <a:r>
              <a:rPr sz="1100" b="0">
                <a:solidFill>
                  <a:srgbClr val="CCCCCC"/>
                </a:solidFill>
                <a:latin typeface="Noto Sans Arabic"/>
              </a:rPr>
              <a:t>Granular Access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9738360"/>
            <a:ext cx="1828800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A4A"/>
                </a:solidFill>
                <a:latin typeface="Noto Sans Arabic"/>
              </a:rPr>
              <a:t>أول تشريع اتحادي إماراتي لحماية الطفل في الفضاء الرقمي — يناير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id="5" name="Rectangle 4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737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>
                <a:solidFill>
                  <a:srgbClr val="C9A84C"/>
                </a:solidFill>
                <a:latin typeface="Noto Sans Arabic"/>
              </a:rPr>
              <a:t>كيف تُجسّد بوابة الجود أحكام القانون؟</a:t>
            </a:r>
          </a:p>
          <a:p>
            <a:pPr algn="r"/>
            <a:r>
              <a:rPr sz="1300" b="0">
                <a:solidFill>
                  <a:srgbClr val="CCCCCC"/>
                </a:solidFill>
                <a:latin typeface="Noto Sans Arabic"/>
              </a:rPr>
              <a:t>Al Jood Portal — Compliance with Child Digital Safety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21792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متطلب القانون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600200"/>
            <a:ext cx="9326880" cy="594360"/>
          </a:xfrm>
          <a:prstGeom prst="rect">
            <a:avLst/>
          </a:prstGeom>
          <a:solidFill>
            <a:srgbClr val="1E345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C9A84C"/>
                </a:solidFill>
                <a:latin typeface="Noto Sans Arabic"/>
              </a:rPr>
              <a:t>ميزة بوابة الجود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621792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 b="1">
                <a:solidFill>
                  <a:srgbClr val="F3E5B8"/>
                </a:solidFill>
                <a:latin typeface="Noto Sans Arabic"/>
              </a:rPr>
              <a:t>حماية البيانات الرقمية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2331720"/>
            <a:ext cx="932688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localStorage فقط — لا سحابة خارجية، بيانات محلية آمنة بالكامل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22039" y="2724912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Arabic"/>
              </a:rPr>
              <a:t>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657600"/>
            <a:ext cx="6217920" cy="1234440"/>
          </a:xfrm>
          <a:prstGeom prst="rect">
            <a:avLst/>
          </a:prstGeom>
          <a:solidFill>
            <a:srgbClr val="1E345C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 b="1">
                <a:solidFill>
                  <a:srgbClr val="F3E5B8"/>
                </a:solidFill>
                <a:latin typeface="Noto Sans Arabic"/>
              </a:rPr>
              <a:t>توثيق هوية المستخدمين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3657600"/>
            <a:ext cx="9326880" cy="1234440"/>
          </a:xfrm>
          <a:prstGeom prst="rect">
            <a:avLst/>
          </a:prstGeom>
          <a:solidFill>
            <a:srgbClr val="1E345C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5 مستويات دخول مستقلة: مدير، مديرة، معلم، إداري، ولي أمر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322039" y="4050791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Arabic"/>
              </a:rPr>
              <a:t>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83480"/>
            <a:ext cx="621792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 b="1">
                <a:solidFill>
                  <a:srgbClr val="F3E5B8"/>
                </a:solidFill>
                <a:latin typeface="Noto Sans Arabic"/>
              </a:rPr>
              <a:t>رقابة أولياء الأمور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4983480"/>
            <a:ext cx="932688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بوابة ولي الأمر — قيد التطوير وإطلاق قريب مع بيانات الطلاب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322039" y="5376672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Arabic"/>
              </a:rPr>
              <a:t>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309360"/>
            <a:ext cx="6217920" cy="1234440"/>
          </a:xfrm>
          <a:prstGeom prst="rect">
            <a:avLst/>
          </a:prstGeom>
          <a:solidFill>
            <a:srgbClr val="1E345C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 b="1">
                <a:solidFill>
                  <a:srgbClr val="F3E5B8"/>
                </a:solidFill>
                <a:latin typeface="Noto Sans Arabic"/>
              </a:rPr>
              <a:t>الإبلاغ عن الاختراقات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6309360"/>
            <a:ext cx="9326880" cy="1234440"/>
          </a:xfrm>
          <a:prstGeom prst="rect">
            <a:avLst/>
          </a:prstGeom>
          <a:solidFill>
            <a:srgbClr val="1E345C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سجل تدقيق مدمج — كل عملية دخول أو تعديل موثّقة تلقائياً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322039" y="6702552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Arabic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7635240"/>
            <a:ext cx="621792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 b="1">
                <a:solidFill>
                  <a:srgbClr val="F3E5B8"/>
                </a:solidFill>
                <a:latin typeface="Noto Sans Arabic"/>
              </a:rPr>
              <a:t>ضبط الصلاحيات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7635240"/>
            <a:ext cx="9326880" cy="1234440"/>
          </a:xfrm>
          <a:prstGeom prst="rect">
            <a:avLst/>
          </a:prstGeom>
          <a:solidFill>
            <a:srgbClr val="1A2A4A"/>
          </a:solidFill>
          <a:ln w="381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صلاحيات CRUD منفصلة لكل دور — Admin يملك التحكم الكامل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322039" y="8028432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Arabic"/>
              </a:rPr>
              <a:t>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9098280"/>
            <a:ext cx="5334000" cy="10058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A2A4A"/>
                </a:solidFill>
                <a:latin typeface="Noto Sans Arabic"/>
              </a:rPr>
              <a:t>5</a:t>
            </a:r>
          </a:p>
          <a:p>
            <a:pPr algn="ctr"/>
            <a:r>
              <a:rPr sz="1300" b="0">
                <a:solidFill>
                  <a:srgbClr val="1A2A4A"/>
                </a:solidFill>
                <a:latin typeface="Noto Sans Arabic"/>
              </a:rPr>
              <a:t>مستويات الوصول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7000" y="9098280"/>
            <a:ext cx="5334000" cy="10058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A2A4A"/>
                </a:solidFill>
                <a:latin typeface="Noto Sans Arabic"/>
              </a:rPr>
              <a:t>100%</a:t>
            </a:r>
          </a:p>
          <a:p>
            <a:pPr algn="ctr"/>
            <a:r>
              <a:rPr sz="1300" b="0">
                <a:solidFill>
                  <a:srgbClr val="1A2A4A"/>
                </a:solidFill>
                <a:latin typeface="Noto Sans Arabic"/>
              </a:rPr>
              <a:t>بيانات محلية آمنة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39600" y="9098280"/>
            <a:ext cx="5334000" cy="10058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A2A4A"/>
                </a:solidFill>
                <a:latin typeface="Noto Sans Arabic"/>
              </a:rPr>
              <a:t>متوافق</a:t>
            </a:r>
          </a:p>
          <a:p>
            <a:pPr algn="ctr"/>
            <a:r>
              <a:rPr sz="1300" b="0">
                <a:solidFill>
                  <a:srgbClr val="1A2A4A"/>
                </a:solidFill>
                <a:latin typeface="Noto Sans Arabic"/>
              </a:rPr>
              <a:t>مع القانون الاتحادي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