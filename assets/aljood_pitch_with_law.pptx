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5.svg" ContentType="image/svg+xml"/>
  <Override PartName="/ppt/media/image17.svg" ContentType="image/svg+xml"/>
  <Override PartName="/ppt/media/image3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66" r:id="rId20"/>
    <p:sldId id="267" r:id="rId21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</p:sldIdLst>
  <p:sldSz cx="18288000" cy="10287000"/>
  <p:notesSz cx="6858000" cy="9144000"/>
  <p:embeddedFontLst>
    <p:embeddedFont>
      <p:font typeface="Codec Pro Ultra-Bold" charset="1" panose="00000700000000000000"/>
      <p:regular r:id="rId16"/>
    </p:embeddedFont>
    <p:embeddedFont>
      <p:font typeface="Noto Sans Arabic Bold" charset="1" panose="020B0802040504020204"/>
      <p:regular r:id="rId17"/>
    </p:embeddedFont>
    <p:embeddedFont>
      <p:font typeface="Codec Pro" charset="1" panose="00000500000000000000"/>
      <p:regular r:id="rId18"/>
    </p:embeddedFont>
    <p:embeddedFont>
      <p:font typeface="Codec Pro Bold" charset="1" panose="00000600000000000000"/>
      <p:regular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esProps" Target="presProps.xml"/><Relationship Id="rId3" Type="http://schemas.openxmlformats.org/officeDocument/2006/relationships/viewProps" Target="viewProps.xml"/><Relationship Id="rId4" Type="http://schemas.openxmlformats.org/officeDocument/2006/relationships/theme" Target="theme/theme1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font" Target="fonts/font16.fntdata"/><Relationship Id="rId17" Type="http://schemas.openxmlformats.org/officeDocument/2006/relationships/font" Target="fonts/font17.fntdata"/><Relationship Id="rId18" Type="http://schemas.openxmlformats.org/officeDocument/2006/relationships/font" Target="fonts/font18.fntdata"/><Relationship Id="rId19" Type="http://schemas.openxmlformats.org/officeDocument/2006/relationships/font" Target="fonts/font19.fntdata"/><Relationship Id="rId20" Type="http://schemas.openxmlformats.org/officeDocument/2006/relationships/slide" Target="slides/slide3.xml"/><Relationship Id="rId21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Relationship Id="rId5" Type="http://schemas.openxmlformats.org/officeDocument/2006/relationships/image" Target="../media/image25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eg"/><Relationship Id="rId3" Type="http://schemas.openxmlformats.org/officeDocument/2006/relationships/image" Target="../media/image6.jpeg"/><Relationship Id="rId4" Type="http://schemas.openxmlformats.org/officeDocument/2006/relationships/image" Target="../media/image7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eg"/><Relationship Id="rId3" Type="http://schemas.openxmlformats.org/officeDocument/2006/relationships/image" Target="../media/image9.jpeg"/><Relationship Id="rId4" Type="http://schemas.openxmlformats.org/officeDocument/2006/relationships/image" Target="../media/image10.jpe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eg"/><Relationship Id="rId3" Type="http://schemas.openxmlformats.org/officeDocument/2006/relationships/image" Target="../media/image12.jpeg"/><Relationship Id="rId4" Type="http://schemas.openxmlformats.org/officeDocument/2006/relationships/image" Target="../media/image13.jpe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svg"/><Relationship Id="rId4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svg"/><Relationship Id="rId4" Type="http://schemas.openxmlformats.org/officeDocument/2006/relationships/image" Target="../media/image4.png"/><Relationship Id="rId5" Type="http://schemas.openxmlformats.org/officeDocument/2006/relationships/image" Target="../media/image16.png"/><Relationship Id="rId6" Type="http://schemas.openxmlformats.org/officeDocument/2006/relationships/image" Target="../media/image17.svg"/><Relationship Id="rId7" Type="http://schemas.openxmlformats.org/officeDocument/2006/relationships/image" Target="../media/image18.png"/><Relationship Id="rId8" Type="http://schemas.openxmlformats.org/officeDocument/2006/relationships/image" Target="../media/image19.png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293914" y="1171470"/>
            <a:ext cx="6898579" cy="7848810"/>
            <a:chOff x="0" y="0"/>
            <a:chExt cx="1078972" cy="1227593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078972" cy="1227593"/>
            </a:xfrm>
            <a:custGeom>
              <a:avLst/>
              <a:gdLst/>
              <a:ahLst/>
              <a:cxnLst/>
              <a:rect r="r" b="b" t="t" l="l"/>
              <a:pathLst>
                <a:path h="1227593" w="1078972">
                  <a:moveTo>
                    <a:pt x="1022860" y="0"/>
                  </a:moveTo>
                  <a:lnTo>
                    <a:pt x="56112" y="0"/>
                  </a:lnTo>
                  <a:cubicBezTo>
                    <a:pt x="25122" y="0"/>
                    <a:pt x="0" y="25122"/>
                    <a:pt x="0" y="56112"/>
                  </a:cubicBezTo>
                  <a:lnTo>
                    <a:pt x="0" y="1171481"/>
                  </a:lnTo>
                  <a:cubicBezTo>
                    <a:pt x="0" y="1202471"/>
                    <a:pt x="25122" y="1227593"/>
                    <a:pt x="56112" y="1227593"/>
                  </a:cubicBezTo>
                  <a:lnTo>
                    <a:pt x="1022860" y="1227593"/>
                  </a:lnTo>
                  <a:cubicBezTo>
                    <a:pt x="1053850" y="1227593"/>
                    <a:pt x="1078972" y="1202471"/>
                    <a:pt x="1078972" y="1171481"/>
                  </a:cubicBezTo>
                  <a:lnTo>
                    <a:pt x="1078972" y="56112"/>
                  </a:lnTo>
                  <a:cubicBezTo>
                    <a:pt x="1078972" y="25122"/>
                    <a:pt x="1053850" y="0"/>
                    <a:pt x="1022860" y="0"/>
                  </a:cubicBezTo>
                  <a:close/>
                </a:path>
              </a:pathLst>
            </a:custGeom>
            <a:blipFill>
              <a:blip r:embed="rId2"/>
              <a:stretch>
                <a:fillRect l="0" t="-153" r="0" b="-153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sp>
        <p:nvSpPr>
          <p:cNvPr name="TextBox 7" id="7"/>
          <p:cNvSpPr txBox="true"/>
          <p:nvPr/>
        </p:nvSpPr>
        <p:spPr>
          <a:xfrm rot="0">
            <a:off x="9377362" y="150495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التحول الرقمي في التعليم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8991600" y="8247380"/>
            <a:ext cx="7496175" cy="4775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499"/>
              </a:lnSpc>
              <a:spcBef>
                <a:spcPct val="0"/>
              </a:spcBef>
            </a:pPr>
            <a:r>
              <a:rPr lang="ar-EG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أ.منيرة علي المري </a:t>
            </a:r>
            <a:r>
              <a:rPr lang="en-US" b="true" sz="279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</a:rPr>
              <a:t>574243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8991600" y="3348279"/>
            <a:ext cx="8267700" cy="27261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10861"/>
              </a:lnSpc>
              <a:spcBef>
                <a:spcPct val="0"/>
              </a:spcBef>
            </a:pPr>
            <a:r>
              <a:rPr lang="ar-EG" b="true" sz="8689">
                <a:solidFill>
                  <a:srgbClr val="C9A84C"/>
                </a:solidFill>
                <a:latin typeface="Noto Sans Arabic Bold"/>
                <a:ea typeface="Noto Sans Arabic Bold"/>
                <a:cs typeface="Noto Sans Arabic Bold"/>
                <a:sym typeface="Noto Sans Arabic Bold"/>
                <a:rtl val="true"/>
              </a:rPr>
              <a:t>بوابة مدرسة الجود الرقمية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2105025" y="5348287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تواجه المدارس صعوبات في إدارة البيانات والتواصل، مما يؤثر سلباً على تجربة التعليم والتعلم.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414462" y="3330508"/>
            <a:ext cx="8267700" cy="18129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861"/>
              </a:lnSpc>
              <a:spcBef>
                <a:spcPct val="0"/>
              </a:spcBef>
            </a:pPr>
            <a:r>
              <a:rPr lang="ar-EG" b="true" sz="5489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التحديات الحقيقية التي تواجه المدارس اليوم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100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200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201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pic>
        <p:nvPicPr>
          <p:cNvPr id="202" name="Picture 201" descr="img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43032" y="2304288"/>
            <a:ext cx="4489704" cy="4489704"/>
          </a:xfrm>
          <a:prstGeom prst="rect">
            <a:avLst/>
          </a:prstGeom>
        </p:spPr>
      </p:pic>
      <p:sp>
        <p:nvSpPr>
          <p:cNvPr id="203" name="Rectangle 202"/>
          <p:cNvSpPr/>
          <p:nvPr/>
        </p:nvSpPr>
        <p:spPr>
          <a:xfrm>
            <a:off x="1243584" y="923544"/>
            <a:ext cx="3840480" cy="45720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TextBox 203"/>
          <p:cNvSpPr txBox="1"/>
          <p:nvPr/>
        </p:nvSpPr>
        <p:spPr>
          <a:xfrm>
            <a:off x="1243584" y="932688"/>
            <a:ext cx="38404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021633"/>
                </a:solidFill>
              </a:rPr>
              <a:t>مرسوم اتحادي | يناير 2026</a:t>
            </a:r>
          </a:p>
        </p:txBody>
      </p:sp>
      <p:sp>
        <p:nvSpPr>
          <p:cNvPr id="205" name="TextBox 204"/>
          <p:cNvSpPr txBox="1"/>
          <p:nvPr/>
        </p:nvSpPr>
        <p:spPr>
          <a:xfrm>
            <a:off x="1243584" y="1554480"/>
            <a:ext cx="8686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2200" b="1">
                <a:solidFill>
                  <a:srgbClr val="C9A84C"/>
                </a:solidFill>
              </a:rPr>
              <a:t>قانون حماية الطفل الرقمي</a:t>
            </a:r>
          </a:p>
        </p:txBody>
      </p:sp>
      <p:sp>
        <p:nvSpPr>
          <p:cNvPr id="206" name="TextBox 205"/>
          <p:cNvSpPr txBox="1"/>
          <p:nvPr/>
        </p:nvSpPr>
        <p:spPr>
          <a:xfrm>
            <a:off x="1243584" y="2057400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B4C8E6"/>
                </a:solidFill>
              </a:rPr>
              <a:t>Child Digital Safety Law</a:t>
            </a:r>
          </a:p>
        </p:txBody>
      </p:sp>
      <p:sp>
        <p:nvSpPr>
          <p:cNvPr id="207" name="Rectangle 206"/>
          <p:cNvSpPr/>
          <p:nvPr/>
        </p:nvSpPr>
        <p:spPr>
          <a:xfrm>
            <a:off x="1243584" y="2560320"/>
            <a:ext cx="7772400" cy="36576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Rectangle 207"/>
          <p:cNvSpPr/>
          <p:nvPr/>
        </p:nvSpPr>
        <p:spPr>
          <a:xfrm>
            <a:off x="1243584" y="2880360"/>
            <a:ext cx="137160" cy="1371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1508760" y="2788920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>
                <a:solidFill>
                  <a:srgbClr val="FFFFFF"/>
                </a:solidFill>
              </a:rPr>
              <a:t>حماية الخصوصية الرقمية للطفل</a:t>
            </a:r>
          </a:p>
        </p:txBody>
      </p:sp>
      <p:sp>
        <p:nvSpPr>
          <p:cNvPr id="210" name="TextBox 209"/>
          <p:cNvSpPr txBox="1"/>
          <p:nvPr/>
        </p:nvSpPr>
        <p:spPr>
          <a:xfrm>
            <a:off x="1508760" y="3127248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BEE1"/>
                </a:solidFill>
              </a:rPr>
              <a:t>Protecting children's digital privacy</a:t>
            </a:r>
          </a:p>
        </p:txBody>
      </p:sp>
      <p:sp>
        <p:nvSpPr>
          <p:cNvPr id="211" name="Rectangle 210"/>
          <p:cNvSpPr/>
          <p:nvPr/>
        </p:nvSpPr>
        <p:spPr>
          <a:xfrm>
            <a:off x="1243584" y="3703320"/>
            <a:ext cx="137160" cy="1371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TextBox 211"/>
          <p:cNvSpPr txBox="1"/>
          <p:nvPr/>
        </p:nvSpPr>
        <p:spPr>
          <a:xfrm>
            <a:off x="1508760" y="3611879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>
                <a:solidFill>
                  <a:srgbClr val="FFFFFF"/>
                </a:solidFill>
              </a:rPr>
              <a:t>تنظيم المحتوى الإلكتروني الموجَّه</a:t>
            </a:r>
          </a:p>
        </p:txBody>
      </p:sp>
      <p:sp>
        <p:nvSpPr>
          <p:cNvPr id="213" name="TextBox 212"/>
          <p:cNvSpPr txBox="1"/>
          <p:nvPr/>
        </p:nvSpPr>
        <p:spPr>
          <a:xfrm>
            <a:off x="1508760" y="3950207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BEE1"/>
                </a:solidFill>
              </a:rPr>
              <a:t>Regulating directed digital content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1243584" y="4526279"/>
            <a:ext cx="137160" cy="13716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1508760" y="4434840"/>
            <a:ext cx="75895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/>
            <a:r>
              <a:rPr sz="1300" b="1">
                <a:solidFill>
                  <a:srgbClr val="FFFFFF"/>
                </a:solidFill>
              </a:rPr>
              <a:t>تعزيز الأمان على المنصات التعليمية</a:t>
            </a:r>
          </a:p>
        </p:txBody>
      </p:sp>
      <p:sp>
        <p:nvSpPr>
          <p:cNvPr id="216" name="TextBox 215"/>
          <p:cNvSpPr txBox="1"/>
          <p:nvPr/>
        </p:nvSpPr>
        <p:spPr>
          <a:xfrm>
            <a:off x="1508760" y="4773168"/>
            <a:ext cx="7589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5BEE1"/>
                </a:solidFill>
              </a:rPr>
              <a:t>Enhancing safety on educational platforms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100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id="101" name="Rectangle 100"/>
          <p:cNvSpPr/>
          <p:nvPr/>
        </p:nvSpPr>
        <p:spPr>
          <a:xfrm>
            <a:off x="0" y="0"/>
            <a:ext cx="18288000" cy="10972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914400" y="182880"/>
            <a:ext cx="1645920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900" b="1">
                <a:solidFill>
                  <a:srgbClr val="C9A84C"/>
                </a:solidFill>
              </a:rPr>
              <a:t>كيف تُجسّد البوابة قانون حماية الطفل الرقمي؟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749808"/>
            <a:ext cx="1645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B4C8E6"/>
                </a:solidFill>
              </a:rPr>
              <a:t>How the portal implements the Child Digital Safety Law</a:t>
            </a:r>
          </a:p>
        </p:txBody>
      </p:sp>
      <p:pic>
        <p:nvPicPr>
          <p:cNvPr id="104" name="Picture 103" descr="img4a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234440"/>
            <a:ext cx="5285232" cy="4206240"/>
          </a:xfrm>
          <a:prstGeom prst="rect">
            <a:avLst/>
          </a:prstGeom>
        </p:spPr>
      </p:pic>
      <p:sp>
        <p:nvSpPr>
          <p:cNvPr id="105" name="Rectangle 104"/>
          <p:cNvSpPr/>
          <p:nvPr/>
        </p:nvSpPr>
        <p:spPr>
          <a:xfrm>
            <a:off x="685800" y="5440679"/>
            <a:ext cx="5285232" cy="4709160"/>
          </a:xfrm>
          <a:prstGeom prst="rect">
            <a:avLst/>
          </a:prstGeom>
          <a:solidFill>
            <a:srgbClr val="22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685800" y="5440679"/>
            <a:ext cx="5285232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777240" y="5550407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1">
                <a:solidFill>
                  <a:srgbClr val="C9A84C"/>
                </a:solidFill>
              </a:rPr>
              <a:t>خصوصية البيانات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77240" y="597103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4C8E6"/>
                </a:solidFill>
              </a:rPr>
              <a:t>Data Privacy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777240" y="6309359"/>
            <a:ext cx="51023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00" b="0">
                <a:solidFill>
                  <a:srgbClr val="FFFFFF"/>
                </a:solidFill>
              </a:rPr>
              <a:t>بيانات الطلاب محمية
داخل بيئة مغلقة آمنة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777240" y="7104888"/>
            <a:ext cx="5102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B9DC"/>
                </a:solidFill>
              </a:rPr>
              <a:t>Student data secured
in a closed environment</a:t>
            </a:r>
          </a:p>
        </p:txBody>
      </p:sp>
      <p:pic>
        <p:nvPicPr>
          <p:cNvPr id="111" name="Picture 110" descr="img4b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1384" y="1234440"/>
            <a:ext cx="5285232" cy="4206240"/>
          </a:xfrm>
          <a:prstGeom prst="rect">
            <a:avLst/>
          </a:prstGeom>
        </p:spPr>
      </p:pic>
      <p:sp>
        <p:nvSpPr>
          <p:cNvPr id="112" name="Rectangle 111"/>
          <p:cNvSpPr/>
          <p:nvPr/>
        </p:nvSpPr>
        <p:spPr>
          <a:xfrm>
            <a:off x="6501384" y="5440679"/>
            <a:ext cx="5285232" cy="4709160"/>
          </a:xfrm>
          <a:prstGeom prst="rect">
            <a:avLst/>
          </a:prstGeom>
          <a:solidFill>
            <a:srgbClr val="22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6501384" y="5440679"/>
            <a:ext cx="5285232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592824" y="5550407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1">
                <a:solidFill>
                  <a:srgbClr val="C9A84C"/>
                </a:solidFill>
              </a:rPr>
              <a:t>محتوى موجَّه وآمن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592824" y="597103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4C8E6"/>
                </a:solidFill>
              </a:rPr>
              <a:t>Safe Guided Content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6592824" y="6309359"/>
            <a:ext cx="51023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00" b="0">
                <a:solidFill>
                  <a:srgbClr val="FFFFFF"/>
                </a:solidFill>
              </a:rPr>
              <a:t>محتوى تعليمي مُصنَّف
ومراقَب من الإدارة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592824" y="7104888"/>
            <a:ext cx="5102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B9DC"/>
                </a:solidFill>
              </a:rPr>
              <a:t>Curated educational content
monitored by administration</a:t>
            </a:r>
          </a:p>
        </p:txBody>
      </p:sp>
      <p:pic>
        <p:nvPicPr>
          <p:cNvPr id="118" name="Picture 117" descr="img4c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316968" y="1234440"/>
            <a:ext cx="5285232" cy="4206240"/>
          </a:xfrm>
          <a:prstGeom prst="rect">
            <a:avLst/>
          </a:prstGeom>
        </p:spPr>
      </p:pic>
      <p:sp>
        <p:nvSpPr>
          <p:cNvPr id="119" name="Rectangle 118"/>
          <p:cNvSpPr/>
          <p:nvPr/>
        </p:nvSpPr>
        <p:spPr>
          <a:xfrm>
            <a:off x="12316968" y="5440679"/>
            <a:ext cx="5285232" cy="4709160"/>
          </a:xfrm>
          <a:prstGeom prst="rect">
            <a:avLst/>
          </a:prstGeom>
          <a:solidFill>
            <a:srgbClr val="2238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2316968" y="5440679"/>
            <a:ext cx="5285232" cy="64008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12408408" y="5550407"/>
            <a:ext cx="5102352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400" b="1">
                <a:solidFill>
                  <a:srgbClr val="C9A84C"/>
                </a:solidFill>
              </a:rPr>
              <a:t>تواصل تحت الإشراف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2408408" y="5971031"/>
            <a:ext cx="5102352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B4C8E6"/>
                </a:solidFill>
              </a:rPr>
              <a:t>Supervised Communication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2408408" y="6309359"/>
            <a:ext cx="5102352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rtl="1"/>
            <a:r>
              <a:rPr sz="1100" b="0">
                <a:solidFill>
                  <a:srgbClr val="FFFFFF"/>
                </a:solidFill>
              </a:rPr>
              <a:t>تواصل المعلم والطالب
تحت إشراف رسمي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12408408" y="7104888"/>
            <a:ext cx="51023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A0B9DC"/>
                </a:solidFill>
              </a:rPr>
              <a:t>Teacher-student contact
under official supervision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0" y="9857232"/>
            <a:ext cx="18288000" cy="91440"/>
          </a:xfrm>
          <a:prstGeom prst="rect">
            <a:avLst/>
          </a:prstGeom>
          <a:solidFill>
            <a:srgbClr val="C9A8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Seamless integration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all school management tasks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بوابة متكاملة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Real-time analytics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for tracking student performance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تحليل فوري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Distance learning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 resources for flexible education options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نظام التعلم عن بُعد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049371" y="1028700"/>
            <a:ext cx="14189259" cy="1710692"/>
            <a:chOff x="0" y="0"/>
            <a:chExt cx="18919012" cy="2280923"/>
          </a:xfrm>
        </p:grpSpPr>
        <p:sp>
          <p:nvSpPr>
            <p:cNvPr name="TextBox 21" id="21"/>
            <p:cNvSpPr txBox="true"/>
            <p:nvPr/>
          </p:nvSpPr>
          <p:spPr>
            <a:xfrm rot="0">
              <a:off x="0" y="1057911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  <a:r>
                <a:rPr lang="ar-EG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الحل | 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Th</a:t>
              </a:r>
              <a:r>
                <a:rPr lang="en-US" b="true" sz="5399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</a:rPr>
                <a:t>e Solution</a:t>
              </a:r>
            </a:p>
          </p:txBody>
        </p:sp>
        <p:sp>
          <p:nvSpPr>
            <p:cNvPr name="TextBox 22" id="22"/>
            <p:cNvSpPr txBox="true"/>
            <p:nvPr/>
          </p:nvSpPr>
          <p:spPr>
            <a:xfrm rot="0">
              <a:off x="0" y="-133350"/>
              <a:ext cx="18919012" cy="1223011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7019"/>
                </a:lnSpc>
              </a:pPr>
            </a:p>
          </p:txBody>
        </p:sp>
      </p:grp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196340"/>
            <a:chOff x="0" y="0"/>
            <a:chExt cx="6159500" cy="1595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27685"/>
              <a:ext cx="6159500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Full access to manage all sections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المدير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96340"/>
            <a:chOff x="0" y="0"/>
            <a:chExt cx="5972338" cy="15951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276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View data and submit necessary forms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المعلمون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96340"/>
            <a:chOff x="0" y="0"/>
            <a:chExt cx="6160551" cy="15951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276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Create forms and view important reports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59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الإداريون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أدوار المستخدمين</a:t>
            </a:r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2105025" y="3686175"/>
            <a:ext cx="6886575" cy="2265045"/>
            <a:chOff x="0" y="0"/>
            <a:chExt cx="9182100" cy="3020060"/>
          </a:xfrm>
        </p:grpSpPr>
        <p:sp>
          <p:nvSpPr>
            <p:cNvPr name="TextBox 6" id="6"/>
            <p:cNvSpPr txBox="true"/>
            <p:nvPr/>
          </p:nvSpPr>
          <p:spPr>
            <a:xfrm rot="0">
              <a:off x="0" y="-57150"/>
              <a:ext cx="9182100" cy="114935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6480"/>
                </a:lnSpc>
              </a:pPr>
            </a:p>
          </p:txBody>
        </p:sp>
        <p:sp>
          <p:nvSpPr>
            <p:cNvPr name="TextBox 7" id="7"/>
            <p:cNvSpPr txBox="true"/>
            <p:nvPr/>
          </p:nvSpPr>
          <p:spPr>
            <a:xfrm rot="0">
              <a:off x="0" y="1431925"/>
              <a:ext cx="91821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نضمن حماية البيانات من خلال تشفير كلمات المرور والتحكم الدقيق في وصول المستخدمين وبيانات محمية بالكامل.</a:t>
              </a:r>
            </a:p>
          </p:txBody>
        </p:sp>
      </p:grpSp>
      <p:sp>
        <p:nvSpPr>
          <p:cNvPr name="Freeform 8" id="8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9" id="9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1528440" y="2701290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تدابير الأمان لحماية بيانات الطلاب والموظفين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938713"/>
            <a:ext cx="6886575" cy="81724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أكثر من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920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 طالب وطالبة، بمتوسط درجات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83.9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%، ونسبة نجاح </a:t>
            </a:r>
            <a:r>
              <a:rPr lang="en-US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</a:rPr>
              <a:t>100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% في الفصل الدراسي الثاني.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النتائج المحققة من بوابة الجود الرقمية</a:t>
            </a:r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grpSp>
        <p:nvGrpSpPr>
          <p:cNvPr name="Group 5" id="5"/>
          <p:cNvGrpSpPr/>
          <p:nvPr/>
        </p:nvGrpSpPr>
        <p:grpSpPr>
          <a:xfrm rot="0">
            <a:off x="11868150" y="3352800"/>
            <a:ext cx="4619625" cy="3231344"/>
            <a:chOff x="0" y="0"/>
            <a:chExt cx="650279" cy="454859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2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7" id="7"/>
          <p:cNvGrpSpPr/>
          <p:nvPr/>
        </p:nvGrpSpPr>
        <p:grpSpPr>
          <a:xfrm rot="0">
            <a:off x="6834188" y="3352800"/>
            <a:ext cx="4619625" cy="3231344"/>
            <a:chOff x="0" y="0"/>
            <a:chExt cx="650279" cy="454859"/>
          </a:xfrm>
        </p:grpSpPr>
        <p:sp>
          <p:nvSpPr>
            <p:cNvPr name="Freeform 8" id="8"/>
            <p:cNvSpPr/>
            <p:nvPr/>
          </p:nvSpPr>
          <p:spPr>
            <a:xfrm flipH="false" flipV="false" rot="0">
              <a:off x="0" y="0"/>
              <a:ext cx="650279" cy="454859"/>
            </a:xfrm>
            <a:custGeom>
              <a:avLst/>
              <a:gdLst/>
              <a:ahLst/>
              <a:cxnLst/>
              <a:rect r="r" b="b" t="t" l="l"/>
              <a:pathLst>
                <a:path h="454859" w="650279">
                  <a:moveTo>
                    <a:pt x="566485" y="0"/>
                  </a:moveTo>
                  <a:lnTo>
                    <a:pt x="83794" y="0"/>
                  </a:lnTo>
                  <a:cubicBezTo>
                    <a:pt x="61570" y="0"/>
                    <a:pt x="40257" y="8828"/>
                    <a:pt x="24543" y="24543"/>
                  </a:cubicBezTo>
                  <a:cubicBezTo>
                    <a:pt x="8828" y="40257"/>
                    <a:pt x="0" y="61570"/>
                    <a:pt x="0" y="83794"/>
                  </a:cubicBezTo>
                  <a:lnTo>
                    <a:pt x="0" y="371065"/>
                  </a:lnTo>
                  <a:cubicBezTo>
                    <a:pt x="0" y="393288"/>
                    <a:pt x="8828" y="414602"/>
                    <a:pt x="24543" y="430316"/>
                  </a:cubicBezTo>
                  <a:cubicBezTo>
                    <a:pt x="40257" y="446030"/>
                    <a:pt x="61570" y="454859"/>
                    <a:pt x="83794" y="454859"/>
                  </a:cubicBezTo>
                  <a:lnTo>
                    <a:pt x="566485" y="454859"/>
                  </a:lnTo>
                  <a:cubicBezTo>
                    <a:pt x="588709" y="454859"/>
                    <a:pt x="610022" y="446030"/>
                    <a:pt x="625737" y="430316"/>
                  </a:cubicBezTo>
                  <a:cubicBezTo>
                    <a:pt x="641451" y="414602"/>
                    <a:pt x="650279" y="393288"/>
                    <a:pt x="650279" y="371065"/>
                  </a:cubicBezTo>
                  <a:lnTo>
                    <a:pt x="650279" y="83794"/>
                  </a:lnTo>
                  <a:cubicBezTo>
                    <a:pt x="650279" y="61570"/>
                    <a:pt x="641451" y="40257"/>
                    <a:pt x="625737" y="24543"/>
                  </a:cubicBezTo>
                  <a:cubicBezTo>
                    <a:pt x="610022" y="8828"/>
                    <a:pt x="588709" y="0"/>
                    <a:pt x="566485" y="0"/>
                  </a:cubicBezTo>
                  <a:close/>
                </a:path>
              </a:pathLst>
            </a:custGeom>
            <a:blipFill>
              <a:blip r:embed="rId3"/>
              <a:stretch>
                <a:fillRect l="-232" t="0" r="-232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9" id="9"/>
          <p:cNvGrpSpPr/>
          <p:nvPr/>
        </p:nvGrpSpPr>
        <p:grpSpPr>
          <a:xfrm rot="0">
            <a:off x="1799437" y="3352800"/>
            <a:ext cx="4623063" cy="3231344"/>
            <a:chOff x="0" y="0"/>
            <a:chExt cx="650763" cy="454859"/>
          </a:xfrm>
        </p:grpSpPr>
        <p:sp>
          <p:nvSpPr>
            <p:cNvPr name="Freeform 10" id="10"/>
            <p:cNvSpPr/>
            <p:nvPr/>
          </p:nvSpPr>
          <p:spPr>
            <a:xfrm flipH="false" flipV="false" rot="0">
              <a:off x="0" y="0"/>
              <a:ext cx="650763" cy="454859"/>
            </a:xfrm>
            <a:custGeom>
              <a:avLst/>
              <a:gdLst/>
              <a:ahLst/>
              <a:cxnLst/>
              <a:rect r="r" b="b" t="t" l="l"/>
              <a:pathLst>
                <a:path h="454859" w="650763">
                  <a:moveTo>
                    <a:pt x="567032" y="0"/>
                  </a:moveTo>
                  <a:lnTo>
                    <a:pt x="83732" y="0"/>
                  </a:lnTo>
                  <a:cubicBezTo>
                    <a:pt x="61525" y="0"/>
                    <a:pt x="40227" y="8822"/>
                    <a:pt x="24524" y="24524"/>
                  </a:cubicBezTo>
                  <a:cubicBezTo>
                    <a:pt x="8822" y="40227"/>
                    <a:pt x="0" y="61525"/>
                    <a:pt x="0" y="83732"/>
                  </a:cubicBezTo>
                  <a:lnTo>
                    <a:pt x="0" y="371127"/>
                  </a:lnTo>
                  <a:cubicBezTo>
                    <a:pt x="0" y="393334"/>
                    <a:pt x="8822" y="414631"/>
                    <a:pt x="24524" y="430334"/>
                  </a:cubicBezTo>
                  <a:cubicBezTo>
                    <a:pt x="40227" y="446037"/>
                    <a:pt x="61525" y="454859"/>
                    <a:pt x="83732" y="454859"/>
                  </a:cubicBezTo>
                  <a:lnTo>
                    <a:pt x="567032" y="454859"/>
                  </a:lnTo>
                  <a:cubicBezTo>
                    <a:pt x="589239" y="454859"/>
                    <a:pt x="610536" y="446037"/>
                    <a:pt x="626239" y="430334"/>
                  </a:cubicBezTo>
                  <a:cubicBezTo>
                    <a:pt x="641941" y="414631"/>
                    <a:pt x="650763" y="393334"/>
                    <a:pt x="650763" y="371127"/>
                  </a:cubicBezTo>
                  <a:lnTo>
                    <a:pt x="650763" y="83732"/>
                  </a:lnTo>
                  <a:cubicBezTo>
                    <a:pt x="650763" y="61525"/>
                    <a:pt x="641941" y="40227"/>
                    <a:pt x="626239" y="24524"/>
                  </a:cubicBezTo>
                  <a:cubicBezTo>
                    <a:pt x="610536" y="8822"/>
                    <a:pt x="589239" y="0"/>
                    <a:pt x="567032" y="0"/>
                  </a:cubicBezTo>
                  <a:close/>
                </a:path>
              </a:pathLst>
            </a:custGeom>
            <a:blipFill>
              <a:blip r:embed="rId4"/>
              <a:stretch>
                <a:fillRect l="-194" t="0" r="-194" b="0"/>
              </a:stretch>
            </a:blipFill>
            <a:ln w="38100" cap="rnd">
              <a:solidFill>
                <a:srgbClr val="000000"/>
              </a:solidFill>
              <a:prstDash val="solid"/>
              <a:round/>
            </a:ln>
          </p:spPr>
        </p:sp>
      </p:grpSp>
      <p:grpSp>
        <p:nvGrpSpPr>
          <p:cNvPr name="Group 11" id="11"/>
          <p:cNvGrpSpPr/>
          <p:nvPr/>
        </p:nvGrpSpPr>
        <p:grpSpPr>
          <a:xfrm rot="0">
            <a:off x="11868150" y="6934200"/>
            <a:ext cx="4619625" cy="1577340"/>
            <a:chOff x="0" y="0"/>
            <a:chExt cx="6159500" cy="2103120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514985"/>
              <a:ext cx="6159500" cy="15881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Showcases student achievements and milestones effectively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-66675"/>
              <a:ext cx="6159500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إنجازات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6974559" y="6934200"/>
            <a:ext cx="4479254" cy="1186815"/>
            <a:chOff x="0" y="0"/>
            <a:chExt cx="5972338" cy="1582420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514985"/>
              <a:ext cx="5972338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Lists upcoming school events and activities clearly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-66675"/>
              <a:ext cx="5972338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فعاليات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799437" y="6934200"/>
            <a:ext cx="4620413" cy="1186815"/>
            <a:chOff x="0" y="0"/>
            <a:chExt cx="6160551" cy="1582420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514985"/>
              <a:ext cx="6160551" cy="10674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Facilitates smart digital forms for efficient submissions</a:t>
              </a: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.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-66675"/>
              <a:ext cx="6160551" cy="546735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312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Bold"/>
                  <a:ea typeface="Codec Pro Bold"/>
                  <a:cs typeface="Codec Pro Bold"/>
                  <a:sym typeface="Codec Pro Bold"/>
                  <a:rtl val="true"/>
                </a:rPr>
                <a:t>نماذج رقمية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049371" y="1673422"/>
            <a:ext cx="14189259" cy="9505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C9A84C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مميزات إضافية</a:t>
            </a:r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ستتوسع بوابة الجود الرقمية على ثلاث مراحل، لتشمل ميزات جديدة لإشراك ولي الأمر وتعزيز تجربة التعليم.</a:t>
            </a:r>
          </a:p>
        </p:txBody>
      </p:sp>
      <p:sp>
        <p:nvSpPr>
          <p:cNvPr name="Freeform 6" id="6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7" id="7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8" id="8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خارطة الطريق لتوسيع بوابة الجود الرقمية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TextBox 5" id="5"/>
          <p:cNvSpPr txBox="true"/>
          <p:nvPr/>
        </p:nvSpPr>
        <p:spPr>
          <a:xfrm rot="0">
            <a:off x="2105025" y="3629025"/>
            <a:ext cx="6886575" cy="876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6480"/>
              </a:lnSpc>
            </a:pPr>
          </a:p>
        </p:txBody>
      </p:sp>
      <p:sp>
        <p:nvSpPr>
          <p:cNvPr name="TextBox 6" id="6"/>
          <p:cNvSpPr txBox="true"/>
          <p:nvPr/>
        </p:nvSpPr>
        <p:spPr>
          <a:xfrm rot="0">
            <a:off x="2105025" y="4743450"/>
            <a:ext cx="6886575" cy="120777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نقدم نموذجاً مبتكراً يسهم في </a:t>
            </a:r>
            <a:r>
              <a:rPr lang="ar-EG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تحقيق رؤية الإمارات </a:t>
            </a:r>
            <a:r>
              <a:rPr lang="en-US" b="true" sz="2400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</a:rPr>
              <a:t>2071</a:t>
            </a:r>
            <a:r>
              <a:rPr lang="ar-EG" sz="2400">
                <a:solidFill>
                  <a:srgbClr val="F3E5B8"/>
                </a:solidFill>
                <a:latin typeface="Codec Pro"/>
                <a:ea typeface="Codec Pro"/>
                <a:cs typeface="Codec Pro"/>
                <a:sym typeface="Codec Pro"/>
                <a:rtl val="true"/>
              </a:rPr>
              <a:t>، ويعزز التعليم الذكي والمستدام لكافة المدارس.</a:t>
            </a:r>
          </a:p>
        </p:txBody>
      </p:sp>
      <p:sp>
        <p:nvSpPr>
          <p:cNvPr name="Freeform 7" id="7"/>
          <p:cNvSpPr/>
          <p:nvPr/>
        </p:nvSpPr>
        <p:spPr>
          <a:xfrm flipH="true" flipV="false" rot="0">
            <a:off x="10486143" y="2216792"/>
            <a:ext cx="5696832" cy="5911807"/>
          </a:xfrm>
          <a:custGeom>
            <a:avLst/>
            <a:gdLst/>
            <a:ahLst/>
            <a:cxnLst/>
            <a:rect r="r" b="b" t="t" l="l"/>
            <a:pathLst>
              <a:path h="5911807" w="5696832">
                <a:moveTo>
                  <a:pt x="5696832" y="0"/>
                </a:moveTo>
                <a:lnTo>
                  <a:pt x="0" y="0"/>
                </a:lnTo>
                <a:lnTo>
                  <a:pt x="0" y="5911807"/>
                </a:lnTo>
                <a:lnTo>
                  <a:pt x="5696832" y="5911807"/>
                </a:lnTo>
                <a:lnTo>
                  <a:pt x="5696832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8" id="8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TextBox 9" id="9"/>
          <p:cNvSpPr txBox="true"/>
          <p:nvPr/>
        </p:nvSpPr>
        <p:spPr>
          <a:xfrm rot="0">
            <a:off x="1740532" y="2713074"/>
            <a:ext cx="7615560" cy="183642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7019"/>
              </a:lnSpc>
            </a:pPr>
            <a:r>
              <a:rPr lang="ar-EG" b="true" sz="5399">
                <a:solidFill>
                  <a:srgbClr val="F3E5B8"/>
                </a:solidFill>
                <a:latin typeface="Codec Pro Bold"/>
                <a:ea typeface="Codec Pro Bold"/>
                <a:cs typeface="Codec Pro Bold"/>
                <a:sym typeface="Codec Pro Bold"/>
                <a:rtl val="true"/>
              </a:rPr>
              <a:t>رؤية مستقبلية للتعليم في الإمارات</a:t>
            </a:r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1A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666750" y="666750"/>
            <a:ext cx="16954500" cy="8953500"/>
            <a:chOff x="0" y="0"/>
            <a:chExt cx="5734099" cy="3028120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52070" y="12700"/>
              <a:ext cx="5669329" cy="2959540"/>
            </a:xfrm>
            <a:custGeom>
              <a:avLst/>
              <a:gdLst/>
              <a:ahLst/>
              <a:cxnLst/>
              <a:rect r="r" b="b" t="t" l="l"/>
              <a:pathLst>
                <a:path h="2959540" w="5669329">
                  <a:moveTo>
                    <a:pt x="5523279" y="2959540"/>
                  </a:moveTo>
                  <a:lnTo>
                    <a:pt x="164850" y="2959540"/>
                  </a:lnTo>
                  <a:cubicBezTo>
                    <a:pt x="66040" y="2959540"/>
                    <a:pt x="0" y="2893500"/>
                    <a:pt x="0" y="2813490"/>
                  </a:cubicBezTo>
                  <a:lnTo>
                    <a:pt x="0" y="146050"/>
                  </a:lnTo>
                  <a:cubicBezTo>
                    <a:pt x="0" y="66040"/>
                    <a:pt x="66040" y="0"/>
                    <a:pt x="164850" y="0"/>
                  </a:cubicBezTo>
                  <a:lnTo>
                    <a:pt x="5523279" y="0"/>
                  </a:lnTo>
                  <a:cubicBezTo>
                    <a:pt x="5603289" y="0"/>
                    <a:pt x="5669329" y="66040"/>
                    <a:pt x="5669329" y="146050"/>
                  </a:cubicBezTo>
                  <a:lnTo>
                    <a:pt x="5669329" y="2813490"/>
                  </a:lnTo>
                  <a:cubicBezTo>
                    <a:pt x="5669329" y="2894770"/>
                    <a:pt x="5603289" y="2959540"/>
                    <a:pt x="5523279" y="2959540"/>
                  </a:cubicBezTo>
                  <a:close/>
                </a:path>
              </a:pathLst>
            </a:custGeom>
            <a:solidFill>
              <a:srgbClr val="021633"/>
            </a:solidFill>
          </p:spPr>
        </p:sp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5734099" cy="3028120"/>
            </a:xfrm>
            <a:custGeom>
              <a:avLst/>
              <a:gdLst/>
              <a:ahLst/>
              <a:cxnLst/>
              <a:rect r="r" b="b" t="t" l="l"/>
              <a:pathLst>
                <a:path h="3028120" w="5734099">
                  <a:moveTo>
                    <a:pt x="63500" y="74930"/>
                  </a:moveTo>
                  <a:cubicBezTo>
                    <a:pt x="91440" y="30480"/>
                    <a:pt x="140970" y="0"/>
                    <a:pt x="216920" y="0"/>
                  </a:cubicBezTo>
                  <a:lnTo>
                    <a:pt x="5575349" y="0"/>
                  </a:lnTo>
                  <a:cubicBezTo>
                    <a:pt x="5662979" y="0"/>
                    <a:pt x="5734099" y="71120"/>
                    <a:pt x="5734099" y="158750"/>
                  </a:cubicBezTo>
                  <a:lnTo>
                    <a:pt x="5734099" y="2826190"/>
                  </a:lnTo>
                  <a:cubicBezTo>
                    <a:pt x="5734099" y="2878260"/>
                    <a:pt x="5708699" y="2923980"/>
                    <a:pt x="5670599" y="2953190"/>
                  </a:cubicBezTo>
                  <a:cubicBezTo>
                    <a:pt x="5642659" y="2997640"/>
                    <a:pt x="5593129" y="3028120"/>
                    <a:pt x="5535979" y="3028120"/>
                  </a:cubicBezTo>
                  <a:lnTo>
                    <a:pt x="158750" y="3028120"/>
                  </a:lnTo>
                  <a:cubicBezTo>
                    <a:pt x="71120" y="3028120"/>
                    <a:pt x="0" y="2957000"/>
                    <a:pt x="0" y="2869370"/>
                  </a:cubicBezTo>
                  <a:lnTo>
                    <a:pt x="0" y="208926"/>
                  </a:lnTo>
                  <a:cubicBezTo>
                    <a:pt x="0" y="149860"/>
                    <a:pt x="25400" y="104140"/>
                    <a:pt x="63500" y="74930"/>
                  </a:cubicBezTo>
                  <a:close/>
                  <a:moveTo>
                    <a:pt x="5721399" y="2826190"/>
                  </a:moveTo>
                  <a:lnTo>
                    <a:pt x="5721399" y="158750"/>
                  </a:lnTo>
                  <a:cubicBezTo>
                    <a:pt x="5721399" y="78740"/>
                    <a:pt x="5655359" y="12700"/>
                    <a:pt x="5575349" y="12700"/>
                  </a:cubicBezTo>
                  <a:lnTo>
                    <a:pt x="216920" y="12700"/>
                  </a:lnTo>
                  <a:cubicBezTo>
                    <a:pt x="118110" y="12700"/>
                    <a:pt x="52070" y="78740"/>
                    <a:pt x="52070" y="158750"/>
                  </a:cubicBezTo>
                  <a:lnTo>
                    <a:pt x="52070" y="2826190"/>
                  </a:lnTo>
                  <a:cubicBezTo>
                    <a:pt x="52070" y="2906200"/>
                    <a:pt x="118110" y="2972240"/>
                    <a:pt x="216920" y="2972240"/>
                  </a:cubicBezTo>
                  <a:lnTo>
                    <a:pt x="5575349" y="2972240"/>
                  </a:lnTo>
                  <a:cubicBezTo>
                    <a:pt x="5655359" y="2972240"/>
                    <a:pt x="5721399" y="2907470"/>
                    <a:pt x="5721399" y="2826190"/>
                  </a:cubicBezTo>
                  <a:close/>
                </a:path>
              </a:pathLst>
            </a:custGeom>
            <a:solidFill>
              <a:srgbClr val="C9A84C"/>
            </a:solidFill>
          </p:spPr>
        </p:sp>
      </p:grpSp>
      <p:sp>
        <p:nvSpPr>
          <p:cNvPr name="Freeform 5" id="5"/>
          <p:cNvSpPr/>
          <p:nvPr/>
        </p:nvSpPr>
        <p:spPr>
          <a:xfrm flipH="true" flipV="false" rot="-5400000">
            <a:off x="10401585" y="2266950"/>
            <a:ext cx="7158835" cy="5753100"/>
          </a:xfrm>
          <a:custGeom>
            <a:avLst/>
            <a:gdLst/>
            <a:ahLst/>
            <a:cxnLst/>
            <a:rect r="r" b="b" t="t" l="l"/>
            <a:pathLst>
              <a:path h="5753100" w="7158835">
                <a:moveTo>
                  <a:pt x="7158835" y="0"/>
                </a:moveTo>
                <a:lnTo>
                  <a:pt x="0" y="0"/>
                </a:lnTo>
                <a:lnTo>
                  <a:pt x="0" y="5753100"/>
                </a:lnTo>
                <a:lnTo>
                  <a:pt x="7158835" y="5753100"/>
                </a:lnTo>
                <a:lnTo>
                  <a:pt x="7158835" y="0"/>
                </a:lnTo>
                <a:close/>
              </a:path>
            </a:pathLst>
          </a:custGeom>
          <a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 l="0" t="0" r="0" b="0"/>
            </a:stretch>
          </a:blipFill>
          <a:ln cap="sq">
            <a:noFill/>
            <a:prstDash val="solid"/>
            <a:miter/>
          </a:ln>
        </p:spPr>
      </p:sp>
      <p:sp>
        <p:nvSpPr>
          <p:cNvPr name="Freeform 6" id="6"/>
          <p:cNvSpPr/>
          <p:nvPr/>
        </p:nvSpPr>
        <p:spPr>
          <a:xfrm flipH="false" flipV="false" rot="0">
            <a:off x="10546645" y="2306609"/>
            <a:ext cx="4485772" cy="4485772"/>
          </a:xfrm>
          <a:custGeom>
            <a:avLst/>
            <a:gdLst/>
            <a:ahLst/>
            <a:cxnLst/>
            <a:rect r="r" b="b" t="t" l="l"/>
            <a:pathLst>
              <a:path h="4485772" w="4485772">
                <a:moveTo>
                  <a:pt x="0" y="0"/>
                </a:moveTo>
                <a:lnTo>
                  <a:pt x="4485772" y="0"/>
                </a:lnTo>
                <a:lnTo>
                  <a:pt x="4485772" y="4485772"/>
                </a:lnTo>
                <a:lnTo>
                  <a:pt x="0" y="44857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477349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5717740" y="8801114"/>
            <a:ext cx="342900" cy="342900"/>
          </a:xfrm>
          <a:custGeom>
            <a:avLst/>
            <a:gdLst/>
            <a:ahLst/>
            <a:cxnLst/>
            <a:rect r="r" b="b" t="t" l="l"/>
            <a:pathLst>
              <a:path h="342900" w="342900">
                <a:moveTo>
                  <a:pt x="0" y="0"/>
                </a:moveTo>
                <a:lnTo>
                  <a:pt x="342900" y="0"/>
                </a:lnTo>
                <a:lnTo>
                  <a:pt x="342900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6095651" y="8801114"/>
            <a:ext cx="343598" cy="342900"/>
          </a:xfrm>
          <a:custGeom>
            <a:avLst/>
            <a:gdLst/>
            <a:ahLst/>
            <a:cxnLst/>
            <a:rect r="r" b="b" t="t" l="l"/>
            <a:pathLst>
              <a:path h="342900" w="343598">
                <a:moveTo>
                  <a:pt x="0" y="0"/>
                </a:moveTo>
                <a:lnTo>
                  <a:pt x="343598" y="0"/>
                </a:lnTo>
                <a:lnTo>
                  <a:pt x="343598" y="342900"/>
                </a:lnTo>
                <a:lnTo>
                  <a:pt x="0" y="3429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TextBox 10" id="10"/>
          <p:cNvSpPr txBox="true"/>
          <p:nvPr/>
        </p:nvSpPr>
        <p:spPr>
          <a:xfrm rot="0">
            <a:off x="2105025" y="2745105"/>
            <a:ext cx="8324850" cy="4267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3120"/>
              </a:lnSpc>
            </a:pPr>
            <a:r>
              <a:rPr lang="ar-EG" b="true" sz="2400">
                <a:solidFill>
                  <a:srgbClr val="F3E5B8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نقدر وقتكم واهتمامكم بمشروعنا</a:t>
            </a:r>
          </a:p>
        </p:txBody>
      </p:sp>
      <p:grpSp>
        <p:nvGrpSpPr>
          <p:cNvPr name="Group 11" id="11"/>
          <p:cNvGrpSpPr/>
          <p:nvPr/>
        </p:nvGrpSpPr>
        <p:grpSpPr>
          <a:xfrm rot="0">
            <a:off x="3238500" y="6038870"/>
            <a:ext cx="6057900" cy="727670"/>
            <a:chOff x="0" y="0"/>
            <a:chExt cx="8077200" cy="970226"/>
          </a:xfrm>
        </p:grpSpPr>
        <p:sp>
          <p:nvSpPr>
            <p:cNvPr name="TextBox 12" id="12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البريد الإلكتروني</a:t>
              </a:r>
            </a:p>
          </p:txBody>
        </p:sp>
        <p:sp>
          <p:nvSpPr>
            <p:cNvPr name="TextBox 13" id="13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  <a:rtl val="true"/>
                </a:rPr>
                <a:t> 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Ha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lima.Almaamari@moe.sch.ae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3238500" y="7018060"/>
            <a:ext cx="6057900" cy="727670"/>
            <a:chOff x="0" y="0"/>
            <a:chExt cx="8077200" cy="970226"/>
          </a:xfrm>
        </p:grpSpPr>
        <p:sp>
          <p:nvSpPr>
            <p:cNvPr name="TextBox 15" id="15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ar-EG" b="true" sz="2400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رقم الهاتف</a:t>
              </a:r>
            </a:p>
          </p:txBody>
        </p:sp>
        <p:sp>
          <p:nvSpPr>
            <p:cNvPr name="TextBox 16" id="16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0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37016615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3238500" y="7997244"/>
            <a:ext cx="6057900" cy="727670"/>
            <a:chOff x="0" y="0"/>
            <a:chExt cx="8077200" cy="970226"/>
          </a:xfrm>
        </p:grpSpPr>
        <p:sp>
          <p:nvSpPr>
            <p:cNvPr name="TextBox 18" id="18"/>
            <p:cNvSpPr txBox="true"/>
            <p:nvPr/>
          </p:nvSpPr>
          <p:spPr>
            <a:xfrm rot="0">
              <a:off x="0" y="-38100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  <a:spcBef>
                  <a:spcPct val="0"/>
                </a:spcBef>
              </a:pPr>
              <a:r>
                <a:rPr lang="ar-EG" b="true" sz="2400" strike="noStrike" u="none">
                  <a:solidFill>
                    <a:srgbClr val="F3E5B8"/>
                  </a:solidFill>
                  <a:latin typeface="Codec Pro Ultra-Bold"/>
                  <a:ea typeface="Codec Pro Ultra-Bold"/>
                  <a:cs typeface="Codec Pro Ultra-Bold"/>
                  <a:sym typeface="Codec Pro Ultra-Bold"/>
                  <a:rtl val="true"/>
                </a:rPr>
                <a:t>وسائل التواصل</a:t>
              </a:r>
            </a:p>
          </p:txBody>
        </p:sp>
        <p:sp>
          <p:nvSpPr>
            <p:cNvPr name="TextBox 19" id="19"/>
            <p:cNvSpPr txBox="true"/>
            <p:nvPr/>
          </p:nvSpPr>
          <p:spPr>
            <a:xfrm rot="0">
              <a:off x="0" y="449526"/>
              <a:ext cx="8077200" cy="520700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ctr" rtl="true" marL="0" indent="0" lvl="0">
                <a:lnSpc>
                  <a:spcPts val="2880"/>
                </a:lnSpc>
              </a:pP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A</a:t>
              </a:r>
              <a:r>
                <a:rPr lang="en-US" sz="2400">
                  <a:solidFill>
                    <a:srgbClr val="F3E5B8"/>
                  </a:solidFill>
                  <a:latin typeface="Codec Pro"/>
                  <a:ea typeface="Codec Pro"/>
                  <a:cs typeface="Codec Pro"/>
                  <a:sym typeface="Codec Pro"/>
                </a:rPr>
                <a:t>ljood_school</a:t>
              </a:r>
            </a:p>
          </p:txBody>
        </p:sp>
      </p:grpSp>
      <p:sp>
        <p:nvSpPr>
          <p:cNvPr name="TextBox 20" id="20"/>
          <p:cNvSpPr txBox="true"/>
          <p:nvPr/>
        </p:nvSpPr>
        <p:spPr>
          <a:xfrm rot="0">
            <a:off x="2221795" y="1518284"/>
            <a:ext cx="8324850" cy="121729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rtl="true" marL="0" indent="0" lvl="0">
              <a:lnSpc>
                <a:spcPts val="8969"/>
              </a:lnSpc>
            </a:pPr>
            <a:r>
              <a:rPr lang="ar-EG" b="true" sz="6899">
                <a:solidFill>
                  <a:srgbClr val="C9A84C"/>
                </a:solidFill>
                <a:latin typeface="Codec Pro Ultra-Bold"/>
                <a:ea typeface="Codec Pro Ultra-Bold"/>
                <a:cs typeface="Codec Pro Ultra-Bold"/>
                <a:sym typeface="Codec Pro Ultra-Bold"/>
                <a:rtl val="true"/>
              </a:rPr>
              <a:t>شكراً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description>Presentation - مدرسة الجود الرقمية</dc:description>
  <dc:identifier>DAHGWXkCvJo</dc:identifier>
  <dcterms:modified xsi:type="dcterms:W3CDTF">2011-08-01T06:04:30Z</dcterms:modified>
  <cp:revision>1</cp:revision>
  <dc:title>Presentation - مدرسة الجود الرقمية</dc:title>
</cp:coreProperties>
</file>