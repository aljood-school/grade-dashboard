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5.svg" ContentType="image/svg+xml"/>
  <Override PartName="/ppt/media/image17.svg" ContentType="image/svg+xml"/>
  <Override PartName="/ppt/media/image3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66" r:id="rId20"/>
    <p:sldId id="267" r:id="rId21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odec Pro Ultra-Bold" charset="1" panose="00000700000000000000"/>
      <p:regular r:id="rId16"/>
    </p:embeddedFont>
    <p:embeddedFont>
      <p:font typeface="Noto Sans Arabic Bold" charset="1" panose="020B0802040504020204"/>
      <p:regular r:id="rId17"/>
    </p:embeddedFont>
    <p:embeddedFont>
      <p:font typeface="Codec Pro" charset="1" panose="00000500000000000000"/>
      <p:regular r:id="rId18"/>
    </p:embeddedFont>
    <p:embeddedFont>
      <p:font typeface="Codec Pro Bold" charset="1" panose="000006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font" Target="fonts/font16.fntdata"/><Relationship Id="rId17" Type="http://schemas.openxmlformats.org/officeDocument/2006/relationships/font" Target="fonts/font17.fntdata"/><Relationship Id="rId18" Type="http://schemas.openxmlformats.org/officeDocument/2006/relationships/font" Target="fonts/font18.fntdata"/><Relationship Id="rId19" Type="http://schemas.openxmlformats.org/officeDocument/2006/relationships/font" Target="fonts/font19.fntdata"/><Relationship Id="rId20" Type="http://schemas.openxmlformats.org/officeDocument/2006/relationships/slide" Target="slides/slide3.xml"/><Relationship Id="rId21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jpg"/><Relationship Id="rId4" Type="http://schemas.openxmlformats.org/officeDocument/2006/relationships/image" Target="../media/image23.jpg"/><Relationship Id="rId5" Type="http://schemas.openxmlformats.org/officeDocument/2006/relationships/image" Target="../media/image25.jpg"/><Relationship Id="rId6" Type="http://schemas.openxmlformats.org/officeDocument/2006/relationships/image" Target="../media/image26.jpg"/><Relationship Id="rId7" Type="http://schemas.openxmlformats.org/officeDocument/2006/relationships/image" Target="../media/image27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eg"/><Relationship Id="rId3" Type="http://schemas.openxmlformats.org/officeDocument/2006/relationships/image" Target="../media/image6.jpeg"/><Relationship Id="rId4" Type="http://schemas.openxmlformats.org/officeDocument/2006/relationships/image" Target="../media/image7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eg"/><Relationship Id="rId3" Type="http://schemas.openxmlformats.org/officeDocument/2006/relationships/image" Target="../media/image9.jpeg"/><Relationship Id="rId4" Type="http://schemas.openxmlformats.org/officeDocument/2006/relationships/image" Target="../media/image10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eg"/><Relationship Id="rId3" Type="http://schemas.openxmlformats.org/officeDocument/2006/relationships/image" Target="../media/image12.jpeg"/><Relationship Id="rId4" Type="http://schemas.openxmlformats.org/officeDocument/2006/relationships/image" Target="../media/image13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svg"/><Relationship Id="rId4" Type="http://schemas.openxmlformats.org/officeDocument/2006/relationships/image" Target="../media/image4.png"/><Relationship Id="rId5" Type="http://schemas.openxmlformats.org/officeDocument/2006/relationships/image" Target="../media/image16.png"/><Relationship Id="rId6" Type="http://schemas.openxmlformats.org/officeDocument/2006/relationships/image" Target="../media/image17.svg"/><Relationship Id="rId7" Type="http://schemas.openxmlformats.org/officeDocument/2006/relationships/image" Target="../media/image18.png"/><Relationship Id="rId8" Type="http://schemas.openxmlformats.org/officeDocument/2006/relationships/image" Target="../media/image19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6954500" cy="8953500"/>
            <a:chOff x="0" y="0"/>
            <a:chExt cx="5734099" cy="3028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52070" y="12700"/>
              <a:ext cx="5669329" cy="2959540"/>
            </a:xfrm>
            <a:custGeom>
              <a:avLst/>
              <a:gdLst/>
              <a:ahLst/>
              <a:cxnLst/>
              <a:rect r="r" b="b" t="t" l="l"/>
              <a:pathLst>
                <a:path h="2959540" w="5669329">
                  <a:moveTo>
                    <a:pt x="5523279" y="2959540"/>
                  </a:moveTo>
                  <a:lnTo>
                    <a:pt x="164850" y="2959540"/>
                  </a:lnTo>
                  <a:cubicBezTo>
                    <a:pt x="66040" y="2959540"/>
                    <a:pt x="0" y="2893500"/>
                    <a:pt x="0" y="2813490"/>
                  </a:cubicBezTo>
                  <a:lnTo>
                    <a:pt x="0" y="146050"/>
                  </a:lnTo>
                  <a:cubicBezTo>
                    <a:pt x="0" y="66040"/>
                    <a:pt x="66040" y="0"/>
                    <a:pt x="164850" y="0"/>
                  </a:cubicBezTo>
                  <a:lnTo>
                    <a:pt x="5523279" y="0"/>
                  </a:lnTo>
                  <a:cubicBezTo>
                    <a:pt x="5603289" y="0"/>
                    <a:pt x="5669329" y="66040"/>
                    <a:pt x="5669329" y="146050"/>
                  </a:cubicBezTo>
                  <a:lnTo>
                    <a:pt x="5669329" y="2813490"/>
                  </a:lnTo>
                  <a:cubicBezTo>
                    <a:pt x="5669329" y="2894770"/>
                    <a:pt x="5603289" y="2959540"/>
                    <a:pt x="5523279" y="2959540"/>
                  </a:cubicBezTo>
                  <a:close/>
                </a:path>
              </a:pathLst>
            </a:custGeom>
            <a:solidFill>
              <a:srgbClr val="021633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734099" cy="3028120"/>
            </a:xfrm>
            <a:custGeom>
              <a:avLst/>
              <a:gdLst/>
              <a:ahLst/>
              <a:cxnLst/>
              <a:rect r="r" b="b" t="t" l="l"/>
              <a:pathLst>
                <a:path h="3028120" w="5734099">
                  <a:moveTo>
                    <a:pt x="63500" y="74930"/>
                  </a:moveTo>
                  <a:cubicBezTo>
                    <a:pt x="91440" y="30480"/>
                    <a:pt x="140970" y="0"/>
                    <a:pt x="216920" y="0"/>
                  </a:cubicBezTo>
                  <a:lnTo>
                    <a:pt x="5575349" y="0"/>
                  </a:lnTo>
                  <a:cubicBezTo>
                    <a:pt x="5662979" y="0"/>
                    <a:pt x="5734099" y="71120"/>
                    <a:pt x="5734099" y="158750"/>
                  </a:cubicBezTo>
                  <a:lnTo>
                    <a:pt x="5734099" y="2826190"/>
                  </a:lnTo>
                  <a:cubicBezTo>
                    <a:pt x="5734099" y="2878260"/>
                    <a:pt x="5708699" y="2923980"/>
                    <a:pt x="5670599" y="2953190"/>
                  </a:cubicBezTo>
                  <a:cubicBezTo>
                    <a:pt x="5642659" y="2997640"/>
                    <a:pt x="5593129" y="3028120"/>
                    <a:pt x="5535979" y="3028120"/>
                  </a:cubicBezTo>
                  <a:lnTo>
                    <a:pt x="158750" y="3028120"/>
                  </a:lnTo>
                  <a:cubicBezTo>
                    <a:pt x="71120" y="3028120"/>
                    <a:pt x="0" y="2957000"/>
                    <a:pt x="0" y="2869370"/>
                  </a:cubicBezTo>
                  <a:lnTo>
                    <a:pt x="0" y="208926"/>
                  </a:lnTo>
                  <a:cubicBezTo>
                    <a:pt x="0" y="149860"/>
                    <a:pt x="25400" y="104140"/>
                    <a:pt x="63500" y="74930"/>
                  </a:cubicBezTo>
                  <a:close/>
                  <a:moveTo>
                    <a:pt x="5721399" y="2826190"/>
                  </a:moveTo>
                  <a:lnTo>
                    <a:pt x="5721399" y="158750"/>
                  </a:lnTo>
                  <a:cubicBezTo>
                    <a:pt x="5721399" y="78740"/>
                    <a:pt x="5655359" y="12700"/>
                    <a:pt x="5575349" y="12700"/>
                  </a:cubicBezTo>
                  <a:lnTo>
                    <a:pt x="216920" y="12700"/>
                  </a:lnTo>
                  <a:cubicBezTo>
                    <a:pt x="118110" y="12700"/>
                    <a:pt x="52070" y="78740"/>
                    <a:pt x="52070" y="158750"/>
                  </a:cubicBezTo>
                  <a:lnTo>
                    <a:pt x="52070" y="2826190"/>
                  </a:lnTo>
                  <a:cubicBezTo>
                    <a:pt x="52070" y="2906200"/>
                    <a:pt x="118110" y="2972240"/>
                    <a:pt x="216920" y="2972240"/>
                  </a:cubicBezTo>
                  <a:lnTo>
                    <a:pt x="5575349" y="2972240"/>
                  </a:lnTo>
                  <a:cubicBezTo>
                    <a:pt x="5655359" y="2972240"/>
                    <a:pt x="5721399" y="2907470"/>
                    <a:pt x="5721399" y="2826190"/>
                  </a:cubicBez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93914" y="1171470"/>
            <a:ext cx="6898579" cy="7848810"/>
            <a:chOff x="0" y="0"/>
            <a:chExt cx="1078972" cy="122759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78972" cy="1227593"/>
            </a:xfrm>
            <a:custGeom>
              <a:avLst/>
              <a:gdLst/>
              <a:ahLst/>
              <a:cxnLst/>
              <a:rect r="r" b="b" t="t" l="l"/>
              <a:pathLst>
                <a:path h="1227593" w="1078972">
                  <a:moveTo>
                    <a:pt x="1022860" y="0"/>
                  </a:moveTo>
                  <a:lnTo>
                    <a:pt x="56112" y="0"/>
                  </a:lnTo>
                  <a:cubicBezTo>
                    <a:pt x="25122" y="0"/>
                    <a:pt x="0" y="25122"/>
                    <a:pt x="0" y="56112"/>
                  </a:cubicBezTo>
                  <a:lnTo>
                    <a:pt x="0" y="1171481"/>
                  </a:lnTo>
                  <a:cubicBezTo>
                    <a:pt x="0" y="1202471"/>
                    <a:pt x="25122" y="1227593"/>
                    <a:pt x="56112" y="1227593"/>
                  </a:cubicBezTo>
                  <a:lnTo>
                    <a:pt x="1022860" y="1227593"/>
                  </a:lnTo>
                  <a:cubicBezTo>
                    <a:pt x="1053850" y="1227593"/>
                    <a:pt x="1078972" y="1202471"/>
                    <a:pt x="1078972" y="1171481"/>
                  </a:cubicBezTo>
                  <a:lnTo>
                    <a:pt x="1078972" y="56112"/>
                  </a:lnTo>
                  <a:cubicBezTo>
                    <a:pt x="1078972" y="25122"/>
                    <a:pt x="1053850" y="0"/>
                    <a:pt x="102286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53" r="0" b="-153"/>
              </a:stretch>
            </a:blipFill>
            <a:ln w="38100" cap="rnd">
              <a:solidFill>
                <a:srgbClr val="000000"/>
              </a:solidFill>
              <a:prstDash val="solid"/>
              <a:round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9377362" y="1504950"/>
            <a:ext cx="7496175" cy="477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 marL="0" indent="0" lvl="0">
              <a:lnSpc>
                <a:spcPts val="3499"/>
              </a:lnSpc>
              <a:spcBef>
                <a:spcPct val="0"/>
              </a:spcBef>
            </a:pPr>
            <a:r>
              <a:rPr lang="ar-EG" b="true" sz="2799">
                <a:solidFill>
                  <a:srgbClr val="F3E5B8"/>
                </a:solidFill>
                <a:latin typeface="Codec Pro Ultra-Bold"/>
                <a:ea typeface="Codec Pro Ultra-Bold"/>
                <a:cs typeface="Codec Pro Ultra-Bold"/>
                <a:sym typeface="Codec Pro Ultra-Bold"/>
                <a:rtl val="true"/>
              </a:rPr>
              <a:t>التحول الرقمي في التعليم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91600" y="8247380"/>
            <a:ext cx="7496175" cy="477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 marL="0" indent="0" lvl="0">
              <a:lnSpc>
                <a:spcPts val="3499"/>
              </a:lnSpc>
              <a:spcBef>
                <a:spcPct val="0"/>
              </a:spcBef>
            </a:pPr>
            <a:r>
              <a:rPr lang="ar-EG" b="true" sz="2799">
                <a:solidFill>
                  <a:srgbClr val="F3E5B8"/>
                </a:solidFill>
                <a:latin typeface="Codec Pro Ultra-Bold"/>
                <a:ea typeface="Codec Pro Ultra-Bold"/>
                <a:cs typeface="Codec Pro Ultra-Bold"/>
                <a:sym typeface="Codec Pro Ultra-Bold"/>
                <a:rtl val="true"/>
              </a:rPr>
              <a:t>أ.منيرة علي المري </a:t>
            </a:r>
            <a:r>
              <a:rPr lang="en-US" b="true" sz="2799">
                <a:solidFill>
                  <a:srgbClr val="F3E5B8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574243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991600" y="3348279"/>
            <a:ext cx="8267700" cy="2726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 marL="0" indent="0" lvl="0">
              <a:lnSpc>
                <a:spcPts val="10861"/>
              </a:lnSpc>
              <a:spcBef>
                <a:spcPct val="0"/>
              </a:spcBef>
            </a:pPr>
            <a:r>
              <a:rPr lang="ar-EG" b="true" sz="8689">
                <a:solidFill>
                  <a:srgbClr val="C9A84C"/>
                </a:solidFill>
                <a:latin typeface="Noto Sans Arabic Bold"/>
                <a:ea typeface="Noto Sans Arabic Bold"/>
                <a:cs typeface="Noto Sans Arabic Bold"/>
                <a:sym typeface="Noto Sans Arabic Bold"/>
                <a:rtl val="true"/>
              </a:rPr>
              <a:t>بوابة مدرسة الجود الرقمية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6954500" cy="8953500"/>
            <a:chOff x="0" y="0"/>
            <a:chExt cx="5734099" cy="3028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52070" y="12700"/>
              <a:ext cx="5669329" cy="2959540"/>
            </a:xfrm>
            <a:custGeom>
              <a:avLst/>
              <a:gdLst/>
              <a:ahLst/>
              <a:cxnLst/>
              <a:rect r="r" b="b" t="t" l="l"/>
              <a:pathLst>
                <a:path h="2959540" w="5669329">
                  <a:moveTo>
                    <a:pt x="5523279" y="2959540"/>
                  </a:moveTo>
                  <a:lnTo>
                    <a:pt x="164850" y="2959540"/>
                  </a:lnTo>
                  <a:cubicBezTo>
                    <a:pt x="66040" y="2959540"/>
                    <a:pt x="0" y="2893500"/>
                    <a:pt x="0" y="2813490"/>
                  </a:cubicBezTo>
                  <a:lnTo>
                    <a:pt x="0" y="146050"/>
                  </a:lnTo>
                  <a:cubicBezTo>
                    <a:pt x="0" y="66040"/>
                    <a:pt x="66040" y="0"/>
                    <a:pt x="164850" y="0"/>
                  </a:cubicBezTo>
                  <a:lnTo>
                    <a:pt x="5523279" y="0"/>
                  </a:lnTo>
                  <a:cubicBezTo>
                    <a:pt x="5603289" y="0"/>
                    <a:pt x="5669329" y="66040"/>
                    <a:pt x="5669329" y="146050"/>
                  </a:cubicBezTo>
                  <a:lnTo>
                    <a:pt x="5669329" y="2813490"/>
                  </a:lnTo>
                  <a:cubicBezTo>
                    <a:pt x="5669329" y="2894770"/>
                    <a:pt x="5603289" y="2959540"/>
                    <a:pt x="5523279" y="2959540"/>
                  </a:cubicBezTo>
                  <a:close/>
                </a:path>
              </a:pathLst>
            </a:custGeom>
            <a:solidFill>
              <a:srgbClr val="021633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734099" cy="3028120"/>
            </a:xfrm>
            <a:custGeom>
              <a:avLst/>
              <a:gdLst/>
              <a:ahLst/>
              <a:cxnLst/>
              <a:rect r="r" b="b" t="t" l="l"/>
              <a:pathLst>
                <a:path h="3028120" w="5734099">
                  <a:moveTo>
                    <a:pt x="63500" y="74930"/>
                  </a:moveTo>
                  <a:cubicBezTo>
                    <a:pt x="91440" y="30480"/>
                    <a:pt x="140970" y="0"/>
                    <a:pt x="216920" y="0"/>
                  </a:cubicBezTo>
                  <a:lnTo>
                    <a:pt x="5575349" y="0"/>
                  </a:lnTo>
                  <a:cubicBezTo>
                    <a:pt x="5662979" y="0"/>
                    <a:pt x="5734099" y="71120"/>
                    <a:pt x="5734099" y="158750"/>
                  </a:cubicBezTo>
                  <a:lnTo>
                    <a:pt x="5734099" y="2826190"/>
                  </a:lnTo>
                  <a:cubicBezTo>
                    <a:pt x="5734099" y="2878260"/>
                    <a:pt x="5708699" y="2923980"/>
                    <a:pt x="5670599" y="2953190"/>
                  </a:cubicBezTo>
                  <a:cubicBezTo>
                    <a:pt x="5642659" y="2997640"/>
                    <a:pt x="5593129" y="3028120"/>
                    <a:pt x="5535979" y="3028120"/>
                  </a:cubicBezTo>
                  <a:lnTo>
                    <a:pt x="158750" y="3028120"/>
                  </a:lnTo>
                  <a:cubicBezTo>
                    <a:pt x="71120" y="3028120"/>
                    <a:pt x="0" y="2957000"/>
                    <a:pt x="0" y="2869370"/>
                  </a:cubicBezTo>
                  <a:lnTo>
                    <a:pt x="0" y="208926"/>
                  </a:lnTo>
                  <a:cubicBezTo>
                    <a:pt x="0" y="149860"/>
                    <a:pt x="25400" y="104140"/>
                    <a:pt x="63500" y="74930"/>
                  </a:cubicBezTo>
                  <a:close/>
                  <a:moveTo>
                    <a:pt x="5721399" y="2826190"/>
                  </a:moveTo>
                  <a:lnTo>
                    <a:pt x="5721399" y="158750"/>
                  </a:lnTo>
                  <a:cubicBezTo>
                    <a:pt x="5721399" y="78740"/>
                    <a:pt x="5655359" y="12700"/>
                    <a:pt x="5575349" y="12700"/>
                  </a:cubicBezTo>
                  <a:lnTo>
                    <a:pt x="216920" y="12700"/>
                  </a:lnTo>
                  <a:cubicBezTo>
                    <a:pt x="118110" y="12700"/>
                    <a:pt x="52070" y="78740"/>
                    <a:pt x="52070" y="158750"/>
                  </a:cubicBezTo>
                  <a:lnTo>
                    <a:pt x="52070" y="2826190"/>
                  </a:lnTo>
                  <a:cubicBezTo>
                    <a:pt x="52070" y="2906200"/>
                    <a:pt x="118110" y="2972240"/>
                    <a:pt x="216920" y="2972240"/>
                  </a:cubicBezTo>
                  <a:lnTo>
                    <a:pt x="5575349" y="2972240"/>
                  </a:lnTo>
                  <a:cubicBezTo>
                    <a:pt x="5655359" y="2972240"/>
                    <a:pt x="5721399" y="2907470"/>
                    <a:pt x="5721399" y="2826190"/>
                  </a:cubicBezTo>
                  <a:close/>
                </a:path>
              </a:pathLst>
            </a:custGeom>
            <a:solidFill>
              <a:srgbClr val="C9A84C"/>
            </a:solidFill>
          </p:spPr>
        </p:sp>
      </p:grpSp>
      <p:sp>
        <p:nvSpPr>
          <p:cNvPr name="Freeform 5" id="5"/>
          <p:cNvSpPr/>
          <p:nvPr/>
        </p:nvSpPr>
        <p:spPr>
          <a:xfrm flipH="true" flipV="false" rot="0">
            <a:off x="10486143" y="2216792"/>
            <a:ext cx="5696832" cy="5911807"/>
          </a:xfrm>
          <a:custGeom>
            <a:avLst/>
            <a:gdLst/>
            <a:ahLst/>
            <a:cxnLst/>
            <a:rect r="r" b="b" t="t" l="l"/>
            <a:pathLst>
              <a:path h="5911807" w="5696832">
                <a:moveTo>
                  <a:pt x="5696832" y="0"/>
                </a:moveTo>
                <a:lnTo>
                  <a:pt x="0" y="0"/>
                </a:lnTo>
                <a:lnTo>
                  <a:pt x="0" y="5911807"/>
                </a:lnTo>
                <a:lnTo>
                  <a:pt x="5696832" y="5911807"/>
                </a:lnTo>
                <a:lnTo>
                  <a:pt x="569683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0546645" y="2306609"/>
            <a:ext cx="4485772" cy="4485772"/>
          </a:xfrm>
          <a:custGeom>
            <a:avLst/>
            <a:gdLst/>
            <a:ahLst/>
            <a:cxnLst/>
            <a:rect r="r" b="b" t="t" l="l"/>
            <a:pathLst>
              <a:path h="4485772" w="4485772">
                <a:moveTo>
                  <a:pt x="0" y="0"/>
                </a:moveTo>
                <a:lnTo>
                  <a:pt x="4485772" y="0"/>
                </a:lnTo>
                <a:lnTo>
                  <a:pt x="4485772" y="4485772"/>
                </a:lnTo>
                <a:lnTo>
                  <a:pt x="0" y="44857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105025" y="5348287"/>
            <a:ext cx="6886575" cy="817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 marL="0" indent="0" lvl="0">
              <a:lnSpc>
                <a:spcPts val="3120"/>
              </a:lnSpc>
            </a:pPr>
            <a:r>
              <a:rPr lang="ar-EG" sz="2400">
                <a:solidFill>
                  <a:srgbClr val="F3E5B8"/>
                </a:solidFill>
                <a:latin typeface="Codec Pro"/>
                <a:ea typeface="Codec Pro"/>
                <a:cs typeface="Codec Pro"/>
                <a:sym typeface="Codec Pro"/>
                <a:rtl val="true"/>
              </a:rPr>
              <a:t>تواجه المدارس صعوبات في إدارة البيانات والتواصل، مما يؤثر سلباً على تجربة التعليم والتعلم.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14462" y="3330508"/>
            <a:ext cx="8267700" cy="1812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 marL="0" indent="0" lvl="0">
              <a:lnSpc>
                <a:spcPts val="6861"/>
              </a:lnSpc>
              <a:spcBef>
                <a:spcPct val="0"/>
              </a:spcBef>
            </a:pPr>
            <a:r>
              <a:rPr lang="ar-EG" b="true" sz="5489">
                <a:solidFill>
                  <a:srgbClr val="F3E5B8"/>
                </a:solidFill>
                <a:latin typeface="Codec Pro Ultra-Bold"/>
                <a:ea typeface="Codec Pro Ultra-Bold"/>
                <a:cs typeface="Codec Pro Ultra-Bold"/>
                <a:sym typeface="Codec Pro Ultra-Bold"/>
                <a:rtl val="true"/>
              </a:rPr>
              <a:t>التحديات الحقيقية التي تواجه المدارس اليوم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6954500" cy="8953500"/>
            <a:chOff x="0" y="0"/>
            <a:chExt cx="5734099" cy="3028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52070" y="12700"/>
              <a:ext cx="5669329" cy="2959540"/>
            </a:xfrm>
            <a:custGeom>
              <a:avLst/>
              <a:gdLst/>
              <a:ahLst/>
              <a:cxnLst/>
              <a:rect r="r" b="b" t="t" l="l"/>
              <a:pathLst>
                <a:path h="2959540" w="5669329">
                  <a:moveTo>
                    <a:pt x="5523279" y="2959540"/>
                  </a:moveTo>
                  <a:lnTo>
                    <a:pt x="164850" y="2959540"/>
                  </a:lnTo>
                  <a:cubicBezTo>
                    <a:pt x="66040" y="2959540"/>
                    <a:pt x="0" y="2893500"/>
                    <a:pt x="0" y="2813490"/>
                  </a:cubicBezTo>
                  <a:lnTo>
                    <a:pt x="0" y="146050"/>
                  </a:lnTo>
                  <a:cubicBezTo>
                    <a:pt x="0" y="66040"/>
                    <a:pt x="66040" y="0"/>
                    <a:pt x="164850" y="0"/>
                  </a:cubicBezTo>
                  <a:lnTo>
                    <a:pt x="5523279" y="0"/>
                  </a:lnTo>
                  <a:cubicBezTo>
                    <a:pt x="5603289" y="0"/>
                    <a:pt x="5669329" y="66040"/>
                    <a:pt x="5669329" y="146050"/>
                  </a:cubicBezTo>
                  <a:lnTo>
                    <a:pt x="5669329" y="2813490"/>
                  </a:lnTo>
                  <a:cubicBezTo>
                    <a:pt x="5669329" y="2894770"/>
                    <a:pt x="5603289" y="2959540"/>
                    <a:pt x="5523279" y="2959540"/>
                  </a:cubicBezTo>
                  <a:close/>
                </a:path>
              </a:pathLst>
            </a:custGeom>
            <a:solidFill>
              <a:srgbClr val="021633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734099" cy="3028120"/>
            </a:xfrm>
            <a:custGeom>
              <a:avLst/>
              <a:gdLst/>
              <a:ahLst/>
              <a:cxnLst/>
              <a:rect r="r" b="b" t="t" l="l"/>
              <a:pathLst>
                <a:path h="3028120" w="5734099">
                  <a:moveTo>
                    <a:pt x="63500" y="74930"/>
                  </a:moveTo>
                  <a:cubicBezTo>
                    <a:pt x="91440" y="30480"/>
                    <a:pt x="140970" y="0"/>
                    <a:pt x="216920" y="0"/>
                  </a:cubicBezTo>
                  <a:lnTo>
                    <a:pt x="5575349" y="0"/>
                  </a:lnTo>
                  <a:cubicBezTo>
                    <a:pt x="5662979" y="0"/>
                    <a:pt x="5734099" y="71120"/>
                    <a:pt x="5734099" y="158750"/>
                  </a:cubicBezTo>
                  <a:lnTo>
                    <a:pt x="5734099" y="2826190"/>
                  </a:lnTo>
                  <a:cubicBezTo>
                    <a:pt x="5734099" y="2878260"/>
                    <a:pt x="5708699" y="2923980"/>
                    <a:pt x="5670599" y="2953190"/>
                  </a:cubicBezTo>
                  <a:cubicBezTo>
                    <a:pt x="5642659" y="2997640"/>
                    <a:pt x="5593129" y="3028120"/>
                    <a:pt x="5535979" y="3028120"/>
                  </a:cubicBezTo>
                  <a:lnTo>
                    <a:pt x="158750" y="3028120"/>
                  </a:lnTo>
                  <a:cubicBezTo>
                    <a:pt x="71120" y="3028120"/>
                    <a:pt x="0" y="2957000"/>
                    <a:pt x="0" y="2869370"/>
                  </a:cubicBezTo>
                  <a:lnTo>
                    <a:pt x="0" y="208926"/>
                  </a:lnTo>
                  <a:cubicBezTo>
                    <a:pt x="0" y="149860"/>
                    <a:pt x="25400" y="104140"/>
                    <a:pt x="63500" y="74930"/>
                  </a:cubicBezTo>
                  <a:close/>
                  <a:moveTo>
                    <a:pt x="5721399" y="2826190"/>
                  </a:moveTo>
                  <a:lnTo>
                    <a:pt x="5721399" y="158750"/>
                  </a:lnTo>
                  <a:cubicBezTo>
                    <a:pt x="5721399" y="78740"/>
                    <a:pt x="5655359" y="12700"/>
                    <a:pt x="5575349" y="12700"/>
                  </a:cubicBezTo>
                  <a:lnTo>
                    <a:pt x="216920" y="12700"/>
                  </a:lnTo>
                  <a:cubicBezTo>
                    <a:pt x="118110" y="12700"/>
                    <a:pt x="52070" y="78740"/>
                    <a:pt x="52070" y="158750"/>
                  </a:cubicBezTo>
                  <a:lnTo>
                    <a:pt x="52070" y="2826190"/>
                  </a:lnTo>
                  <a:cubicBezTo>
                    <a:pt x="52070" y="2906200"/>
                    <a:pt x="118110" y="2972240"/>
                    <a:pt x="216920" y="2972240"/>
                  </a:cubicBezTo>
                  <a:lnTo>
                    <a:pt x="5575349" y="2972240"/>
                  </a:lnTo>
                  <a:cubicBezTo>
                    <a:pt x="5655359" y="2972240"/>
                    <a:pt x="5721399" y="2907470"/>
                    <a:pt x="5721399" y="2826190"/>
                  </a:cubicBezTo>
                  <a:close/>
                </a:path>
              </a:pathLst>
            </a:custGeom>
            <a:solidFill>
              <a:srgbClr val="C9A84C"/>
            </a:solidFill>
          </p:spPr>
        </p:sp>
      </p:grpSp>
      <p:sp>
        <p:nvSpPr>
          <p:cNvPr id="5" name="Rectangle 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8288000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"/>
            <a:ext cx="1645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2800" b="1">
                <a:solidFill>
                  <a:srgbClr val="C9A84C"/>
                </a:solidFill>
                <a:latin typeface="Noto Sans Arabic"/>
              </a:rPr>
              <a:t>قانون حماية الطفل الرقمي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804672"/>
            <a:ext cx="1645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300" b="0">
                <a:solidFill>
                  <a:srgbClr val="FFFFFF"/>
                </a:solidFill>
                <a:latin typeface="Noto Sans Arabic"/>
              </a:rPr>
              <a:t>UAE Child Digital Safety Law — Federal Decree No. 2 of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170432"/>
            <a:ext cx="16459200" cy="274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234440" y="1325880"/>
            <a:ext cx="5029200" cy="2377440"/>
          </a:xfrm>
          <a:prstGeom prst="roundRect">
            <a:avLst>
              <a:gd name="adj" fmla="val 4000"/>
            </a:avLst>
          </a:prstGeom>
          <a:solidFill>
            <a:srgbClr val="223A5E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34440" y="1325880"/>
            <a:ext cx="5029200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17320" y="1463040"/>
            <a:ext cx="685800" cy="6858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1490472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600" b="1">
                <a:solidFill>
                  <a:srgbClr val="1A2A4A"/>
                </a:solidFill>
                <a:latin typeface="Noto Sans Arabic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1435608"/>
            <a:ext cx="3977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1">
                <a:solidFill>
                  <a:srgbClr val="C9A84C"/>
                </a:solidFill>
                <a:latin typeface="Noto Sans Arabic"/>
              </a:rPr>
              <a:t>حماية البيانات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18288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CCCCC"/>
                </a:solidFill>
                <a:latin typeface="Noto Sans Arabic"/>
              </a:rPr>
              <a:t>Data Privacy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2148840"/>
            <a:ext cx="4754880" cy="1828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224028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>
                <a:solidFill>
                  <a:srgbClr val="FFFFFF"/>
                </a:solidFill>
                <a:latin typeface="Noto Sans Arabic"/>
              </a:rPr>
              <a:t>بيانات الطلاب
محمية ومشفّرة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292608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BBBBBB"/>
                </a:solidFill>
                <a:latin typeface="Noto Sans Arabic"/>
              </a:rPr>
              <a:t>Student data
encrypted &amp; protected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29400" y="1325880"/>
            <a:ext cx="5029200" cy="2377440"/>
          </a:xfrm>
          <a:prstGeom prst="roundRect">
            <a:avLst>
              <a:gd name="adj" fmla="val 4000"/>
            </a:avLst>
          </a:prstGeom>
          <a:solidFill>
            <a:srgbClr val="223A5E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629400" y="1325880"/>
            <a:ext cx="5029200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12280" y="1463040"/>
            <a:ext cx="685800" cy="6858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12280" y="1490472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600" b="1">
                <a:solidFill>
                  <a:srgbClr val="1A2A4A"/>
                </a:solidFill>
                <a:latin typeface="Noto Sans Arabic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1435608"/>
            <a:ext cx="3977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1">
                <a:solidFill>
                  <a:srgbClr val="C9A84C"/>
                </a:solidFill>
                <a:latin typeface="Noto Sans Arabic"/>
              </a:rPr>
              <a:t>تنظيم المحتوى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18288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CCCCC"/>
                </a:solidFill>
                <a:latin typeface="Noto Sans Arabic"/>
              </a:rPr>
              <a:t>Content Regulation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66560" y="2148840"/>
            <a:ext cx="4754880" cy="1828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224028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>
                <a:solidFill>
                  <a:srgbClr val="FFFFFF"/>
                </a:solidFill>
                <a:latin typeface="Noto Sans Arabic"/>
              </a:rPr>
              <a:t>محتوى موجَّه
ومراقَب تربوياً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292608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BBBBBB"/>
                </a:solidFill>
                <a:latin typeface="Noto Sans Arabic"/>
              </a:rPr>
              <a:t>Curated educational
content supervised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2024360" y="1325880"/>
            <a:ext cx="5029200" cy="2377440"/>
          </a:xfrm>
          <a:prstGeom prst="roundRect">
            <a:avLst>
              <a:gd name="adj" fmla="val 4000"/>
            </a:avLst>
          </a:prstGeom>
          <a:solidFill>
            <a:srgbClr val="223A5E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2024360" y="1325880"/>
            <a:ext cx="5029200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2207240" y="1463040"/>
            <a:ext cx="685800" cy="6858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207240" y="1490472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600" b="1">
                <a:solidFill>
                  <a:srgbClr val="1A2A4A"/>
                </a:solidFill>
                <a:latin typeface="Noto Sans Arabic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984480" y="1435608"/>
            <a:ext cx="3977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1">
                <a:solidFill>
                  <a:srgbClr val="C9A84C"/>
                </a:solidFill>
                <a:latin typeface="Noto Sans Arabic"/>
              </a:rPr>
              <a:t>الرقابة الرقمية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15800" y="18288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CCCCC"/>
                </a:solidFill>
                <a:latin typeface="Noto Sans Arabic"/>
              </a:rPr>
              <a:t>Digital Oversight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161520" y="2148840"/>
            <a:ext cx="4754880" cy="1828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115800" y="224028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>
                <a:solidFill>
                  <a:srgbClr val="FFFFFF"/>
                </a:solidFill>
                <a:latin typeface="Noto Sans Arabic"/>
              </a:rPr>
              <a:t>صلاحيات وأدوار
محددة لكل مستخدم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115800" y="292608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BBBBBB"/>
                </a:solidFill>
                <a:latin typeface="Noto Sans Arabic"/>
              </a:rPr>
              <a:t>Role-based access
for all users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0" y="3840480"/>
            <a:ext cx="5303520" cy="804672"/>
          </a:xfrm>
          <a:prstGeom prst="roundRect">
            <a:avLst>
              <a:gd name="adj" fmla="val 8000"/>
            </a:avLst>
          </a:prstGeom>
          <a:solidFill>
            <a:srgbClr val="223A5E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657600" y="3840480"/>
            <a:ext cx="64008" cy="8046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794760" y="4023360"/>
            <a:ext cx="411480" cy="41148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94760" y="4023360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100" b="1">
                <a:solidFill>
                  <a:srgbClr val="1A2A4A"/>
                </a:solidFill>
                <a:latin typeface="Noto Sans Arabic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97680" y="3895344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C9A84C"/>
                </a:solidFill>
                <a:latin typeface="Noto Sans Arabic"/>
              </a:rPr>
              <a:t>الشفافية والمساءلة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97680" y="4261104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>
                <a:solidFill>
                  <a:srgbClr val="FFFFFF"/>
                </a:solidFill>
                <a:latin typeface="Noto Sans Arabic"/>
              </a:rPr>
              <a:t>تقارير وسجلات — يراجعها الإداريون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26880" y="3840480"/>
            <a:ext cx="5303520" cy="804672"/>
          </a:xfrm>
          <a:prstGeom prst="roundRect">
            <a:avLst>
              <a:gd name="adj" fmla="val 8000"/>
            </a:avLst>
          </a:prstGeom>
          <a:solidFill>
            <a:srgbClr val="223A5E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326880" y="3840480"/>
            <a:ext cx="64008" cy="8046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464040" y="4023360"/>
            <a:ext cx="411480" cy="41148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464040" y="4023360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100" b="1">
                <a:solidFill>
                  <a:srgbClr val="1A2A4A"/>
                </a:solidFill>
                <a:latin typeface="Noto Sans Arabic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66960" y="3895344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C9A84C"/>
                </a:solidFill>
                <a:latin typeface="Noto Sans Arabic"/>
              </a:rPr>
              <a:t>الأمان والخصوصية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66960" y="4261104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>
                <a:solidFill>
                  <a:srgbClr val="FFFFFF"/>
                </a:solidFill>
                <a:latin typeface="Noto Sans Arabic"/>
              </a:rPr>
              <a:t>بيئة مغلقة — بعيداً عن الإنترنت العام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10213848"/>
            <a:ext cx="18288000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6954500" cy="8953500"/>
            <a:chOff x="0" y="0"/>
            <a:chExt cx="5734099" cy="3028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52070" y="12700"/>
              <a:ext cx="5669329" cy="2959540"/>
            </a:xfrm>
            <a:custGeom>
              <a:avLst/>
              <a:gdLst/>
              <a:ahLst/>
              <a:cxnLst/>
              <a:rect r="r" b="b" t="t" l="l"/>
              <a:pathLst>
                <a:path h="2959540" w="5669329">
                  <a:moveTo>
                    <a:pt x="5523279" y="2959540"/>
                  </a:moveTo>
                  <a:lnTo>
                    <a:pt x="164850" y="2959540"/>
                  </a:lnTo>
                  <a:cubicBezTo>
                    <a:pt x="66040" y="2959540"/>
                    <a:pt x="0" y="2893500"/>
                    <a:pt x="0" y="2813490"/>
                  </a:cubicBezTo>
                  <a:lnTo>
                    <a:pt x="0" y="146050"/>
                  </a:lnTo>
                  <a:cubicBezTo>
                    <a:pt x="0" y="66040"/>
                    <a:pt x="66040" y="0"/>
                    <a:pt x="164850" y="0"/>
                  </a:cubicBezTo>
                  <a:lnTo>
                    <a:pt x="5523279" y="0"/>
                  </a:lnTo>
                  <a:cubicBezTo>
                    <a:pt x="5603289" y="0"/>
                    <a:pt x="5669329" y="66040"/>
                    <a:pt x="5669329" y="146050"/>
                  </a:cubicBezTo>
                  <a:lnTo>
                    <a:pt x="5669329" y="2813490"/>
                  </a:lnTo>
                  <a:cubicBezTo>
                    <a:pt x="5669329" y="2894770"/>
                    <a:pt x="5603289" y="2959540"/>
                    <a:pt x="5523279" y="2959540"/>
                  </a:cubicBezTo>
                  <a:close/>
                </a:path>
              </a:pathLst>
            </a:custGeom>
            <a:solidFill>
              <a:srgbClr val="021633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734099" cy="3028120"/>
            </a:xfrm>
            <a:custGeom>
              <a:avLst/>
              <a:gdLst/>
              <a:ahLst/>
              <a:cxnLst/>
              <a:rect r="r" b="b" t="t" l="l"/>
              <a:pathLst>
                <a:path h="3028120" w="5734099">
                  <a:moveTo>
                    <a:pt x="63500" y="74930"/>
                  </a:moveTo>
                  <a:cubicBezTo>
                    <a:pt x="91440" y="30480"/>
                    <a:pt x="140970" y="0"/>
                    <a:pt x="216920" y="0"/>
                  </a:cubicBezTo>
                  <a:lnTo>
                    <a:pt x="5575349" y="0"/>
                  </a:lnTo>
                  <a:cubicBezTo>
                    <a:pt x="5662979" y="0"/>
                    <a:pt x="5734099" y="71120"/>
                    <a:pt x="5734099" y="158750"/>
                  </a:cubicBezTo>
                  <a:lnTo>
                    <a:pt x="5734099" y="2826190"/>
                  </a:lnTo>
                  <a:cubicBezTo>
                    <a:pt x="5734099" y="2878260"/>
                    <a:pt x="5708699" y="2923980"/>
                    <a:pt x="5670599" y="2953190"/>
                  </a:cubicBezTo>
                  <a:cubicBezTo>
                    <a:pt x="5642659" y="2997640"/>
                    <a:pt x="5593129" y="3028120"/>
                    <a:pt x="5535979" y="3028120"/>
                  </a:cubicBezTo>
                  <a:lnTo>
                    <a:pt x="158750" y="3028120"/>
                  </a:lnTo>
                  <a:cubicBezTo>
                    <a:pt x="71120" y="3028120"/>
                    <a:pt x="0" y="2957000"/>
                    <a:pt x="0" y="2869370"/>
                  </a:cubicBezTo>
                  <a:lnTo>
                    <a:pt x="0" y="208926"/>
                  </a:lnTo>
                  <a:cubicBezTo>
                    <a:pt x="0" y="149860"/>
                    <a:pt x="25400" y="104140"/>
                    <a:pt x="63500" y="74930"/>
                  </a:cubicBezTo>
                  <a:close/>
                  <a:moveTo>
                    <a:pt x="5721399" y="2826190"/>
                  </a:moveTo>
                  <a:lnTo>
                    <a:pt x="5721399" y="158750"/>
                  </a:lnTo>
                  <a:cubicBezTo>
                    <a:pt x="5721399" y="78740"/>
                    <a:pt x="5655359" y="12700"/>
                    <a:pt x="5575349" y="12700"/>
                  </a:cubicBezTo>
                  <a:lnTo>
                    <a:pt x="216920" y="12700"/>
                  </a:lnTo>
                  <a:cubicBezTo>
                    <a:pt x="118110" y="12700"/>
                    <a:pt x="52070" y="78740"/>
                    <a:pt x="52070" y="158750"/>
                  </a:cubicBezTo>
                  <a:lnTo>
                    <a:pt x="52070" y="2826190"/>
                  </a:lnTo>
                  <a:cubicBezTo>
                    <a:pt x="52070" y="2906200"/>
                    <a:pt x="118110" y="2972240"/>
                    <a:pt x="216920" y="2972240"/>
                  </a:cubicBezTo>
                  <a:lnTo>
                    <a:pt x="5575349" y="2972240"/>
                  </a:lnTo>
                  <a:cubicBezTo>
                    <a:pt x="5655359" y="2972240"/>
                    <a:pt x="5721399" y="2907470"/>
                    <a:pt x="5721399" y="2826190"/>
                  </a:cubicBezTo>
                  <a:close/>
                </a:path>
              </a:pathLst>
            </a:custGeom>
            <a:solidFill>
              <a:srgbClr val="C9A84C"/>
            </a:solidFill>
          </p:spPr>
        </p:sp>
      </p:grpSp>
      <p:sp>
        <p:nvSpPr>
          <p:cNvPr id="5" name="Rectangle 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8288000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0213848"/>
            <a:ext cx="18288000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"/>
            <a:ext cx="1645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2800" b="1">
                <a:solidFill>
                  <a:srgbClr val="C9A84C"/>
                </a:solidFill>
                <a:latin typeface="Noto Sans Arabic"/>
              </a:rPr>
              <a:t>كيف تُجسّد البوابة القانون؟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713232"/>
            <a:ext cx="1645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200" b="0">
                <a:solidFill>
                  <a:srgbClr val="FFFFFF"/>
                </a:solidFill>
                <a:latin typeface="Noto Sans Arabic"/>
              </a:rPr>
              <a:t>How the portal implements the Child Digital Safety Law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1005840"/>
            <a:ext cx="16459200" cy="274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70432" y="1143000"/>
            <a:ext cx="5120640" cy="3200400"/>
          </a:xfrm>
          <a:prstGeom prst="roundRect">
            <a:avLst>
              <a:gd name="adj" fmla="val 4000"/>
            </a:avLst>
          </a:prstGeom>
          <a:solidFill>
            <a:srgbClr val="223A5E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70432" y="1143000"/>
            <a:ext cx="5120640" cy="640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90672" y="1325880"/>
            <a:ext cx="1280160" cy="1280160"/>
          </a:xfrm>
          <a:prstGeom prst="ellipse">
            <a:avLst/>
          </a:prstGeom>
          <a:solidFill>
            <a:srgbClr val="1A2A4A"/>
          </a:solidFill>
          <a:ln w="317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90672" y="1508760"/>
            <a:ext cx="1280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3200" b="1">
                <a:solidFill>
                  <a:srgbClr val="C9A84C"/>
                </a:solidFill>
                <a:latin typeface="Noto Sans Arabic"/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44752" y="2743200"/>
            <a:ext cx="4572000" cy="274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28346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700" b="1">
                <a:solidFill>
                  <a:srgbClr val="C9A84C"/>
                </a:solidFill>
                <a:latin typeface="Noto Sans Arabic"/>
              </a:rPr>
              <a:t>خصوصية البيانات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1872" y="32461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CCCC"/>
                </a:solidFill>
                <a:latin typeface="Noto Sans Arabic"/>
              </a:rPr>
              <a:t>Data Privacy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07592" y="356616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200" b="0">
                <a:solidFill>
                  <a:srgbClr val="FFFFFF"/>
                </a:solidFill>
                <a:latin typeface="Noto Sans Arabic"/>
              </a:rPr>
              <a:t>بيانات الطلاب محمية داخل بيئة مغلقة — لا وصول خارجي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07592" y="406908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AAAAAA"/>
                </a:solidFill>
                <a:latin typeface="Noto Sans Arabic"/>
              </a:rPr>
              <a:t>Student data secured in a closed environment — no external access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1143000"/>
            <a:ext cx="5120640" cy="3200400"/>
          </a:xfrm>
          <a:prstGeom prst="roundRect">
            <a:avLst>
              <a:gd name="adj" fmla="val 4000"/>
            </a:avLst>
          </a:prstGeom>
          <a:solidFill>
            <a:srgbClr val="223A5E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0" y="1143000"/>
            <a:ext cx="5120640" cy="640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503920" y="1325880"/>
            <a:ext cx="1280160" cy="1280160"/>
          </a:xfrm>
          <a:prstGeom prst="ellipse">
            <a:avLst/>
          </a:prstGeom>
          <a:solidFill>
            <a:srgbClr val="1A2A4A"/>
          </a:solidFill>
          <a:ln w="317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0" y="1508760"/>
            <a:ext cx="1280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3200" b="1">
                <a:solidFill>
                  <a:srgbClr val="C9A84C"/>
                </a:solidFill>
                <a:latin typeface="Noto Sans Arabic"/>
              </a:rPr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2743200"/>
            <a:ext cx="4572000" cy="274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28346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700" b="1">
                <a:solidFill>
                  <a:srgbClr val="C9A84C"/>
                </a:solidFill>
                <a:latin typeface="Noto Sans Arabic"/>
              </a:rPr>
              <a:t>محتوى موجَّه وآمن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32461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CCCC"/>
                </a:solidFill>
                <a:latin typeface="Noto Sans Arabic"/>
              </a:rPr>
              <a:t>Safe Guided Content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356616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200" b="0">
                <a:solidFill>
                  <a:srgbClr val="FFFFFF"/>
                </a:solidFill>
                <a:latin typeface="Noto Sans Arabic"/>
              </a:rPr>
              <a:t>محتوى تعليمي مُصنَّف ومراقَب من الإدارة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406908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AAAAAA"/>
                </a:solidFill>
                <a:latin typeface="Noto Sans Arabic"/>
              </a:rPr>
              <a:t>Curated educational content monitored by administration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996928" y="1143000"/>
            <a:ext cx="5120640" cy="3200400"/>
          </a:xfrm>
          <a:prstGeom prst="roundRect">
            <a:avLst>
              <a:gd name="adj" fmla="val 4000"/>
            </a:avLst>
          </a:prstGeom>
          <a:solidFill>
            <a:srgbClr val="223A5E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996928" y="1143000"/>
            <a:ext cx="5120640" cy="640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3917168" y="1325880"/>
            <a:ext cx="1280160" cy="1280160"/>
          </a:xfrm>
          <a:prstGeom prst="ellipse">
            <a:avLst/>
          </a:prstGeom>
          <a:solidFill>
            <a:srgbClr val="1A2A4A"/>
          </a:solidFill>
          <a:ln w="317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917168" y="1508760"/>
            <a:ext cx="1280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3200" b="1">
                <a:solidFill>
                  <a:srgbClr val="C9A84C"/>
                </a:solidFill>
                <a:latin typeface="Noto Sans Arabic"/>
              </a:rPr>
              <a:t>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271248" y="2743200"/>
            <a:ext cx="4572000" cy="274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088368" y="28346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700" b="1">
                <a:solidFill>
                  <a:srgbClr val="C9A84C"/>
                </a:solidFill>
                <a:latin typeface="Noto Sans Arabic"/>
              </a:rPr>
              <a:t>تواصل تحت الإشراف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088368" y="32461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CCCC"/>
                </a:solidFill>
                <a:latin typeface="Noto Sans Arabic"/>
              </a:rPr>
              <a:t>Supervised Communication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134088" y="356616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200" b="0">
                <a:solidFill>
                  <a:srgbClr val="FFFFFF"/>
                </a:solidFill>
                <a:latin typeface="Noto Sans Arabic"/>
              </a:rPr>
              <a:t>تواصل المعلم والطالب تحت إشراف رسمي ومحدود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134088" y="406908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AAAAAA"/>
                </a:solidFill>
                <a:latin typeface="Noto Sans Arabic"/>
              </a:rPr>
              <a:t>Teacher-student contact under official supervision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4526280"/>
            <a:ext cx="6096000" cy="822960"/>
          </a:xfrm>
          <a:prstGeom prst="rect">
            <a:avLst/>
          </a:prstGeom>
          <a:solidFill>
            <a:srgbClr val="12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0" y="4544568"/>
            <a:ext cx="609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2200" b="1">
                <a:solidFill>
                  <a:srgbClr val="C9A84C"/>
                </a:solidFill>
                <a:latin typeface="Noto Sans Arabic"/>
              </a:rPr>
              <a:t>74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0" y="4910328"/>
            <a:ext cx="609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000" b="0">
                <a:solidFill>
                  <a:srgbClr val="FFFFFF"/>
                </a:solidFill>
                <a:latin typeface="Noto Sans Arabic"/>
              </a:rPr>
              <a:t>معلماً على البوابة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0" y="5120640"/>
            <a:ext cx="609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AAAAAA"/>
                </a:solidFill>
                <a:latin typeface="Noto Sans Arabic"/>
              </a:rPr>
              <a:t>Teachers on portal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96000" y="4526280"/>
            <a:ext cx="6096000" cy="822960"/>
          </a:xfrm>
          <a:prstGeom prst="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96000" y="4544568"/>
            <a:ext cx="609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2200" b="1">
                <a:solidFill>
                  <a:srgbClr val="C9A84C"/>
                </a:solidFill>
                <a:latin typeface="Noto Sans Arabic"/>
              </a:rPr>
              <a:t>100%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96000" y="4910328"/>
            <a:ext cx="609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000" b="0">
                <a:solidFill>
                  <a:srgbClr val="FFFFFF"/>
                </a:solidFill>
                <a:latin typeface="Noto Sans Arabic"/>
              </a:rPr>
              <a:t>خصوصية بيانات الطلاب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96000" y="5120640"/>
            <a:ext cx="609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AAAAAA"/>
                </a:solidFill>
                <a:latin typeface="Noto Sans Arabic"/>
              </a:rPr>
              <a:t>Student data privacy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2192000" y="4526280"/>
            <a:ext cx="6096000" cy="822960"/>
          </a:xfrm>
          <a:prstGeom prst="rect">
            <a:avLst/>
          </a:prstGeom>
          <a:solidFill>
            <a:srgbClr val="12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2192000" y="4544568"/>
            <a:ext cx="609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2200" b="1">
                <a:solidFill>
                  <a:srgbClr val="C9A84C"/>
                </a:solidFill>
                <a:latin typeface="Noto Sans Arabic"/>
              </a:rP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192000" y="4910328"/>
            <a:ext cx="609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000" b="0">
                <a:solidFill>
                  <a:srgbClr val="FFFFFF"/>
                </a:solidFill>
                <a:latin typeface="Noto Sans Arabic"/>
              </a:rPr>
              <a:t>متطلبات القانون مُحققة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192000" y="5120640"/>
            <a:ext cx="609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AAAAAA"/>
                </a:solidFill>
                <a:latin typeface="Noto Sans Arabic"/>
              </a:rPr>
              <a:t>Law requirements met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6954500" cy="8953500"/>
            <a:chOff x="0" y="0"/>
            <a:chExt cx="5734099" cy="3028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52070" y="12700"/>
              <a:ext cx="5669329" cy="2959540"/>
            </a:xfrm>
            <a:custGeom>
              <a:avLst/>
              <a:gdLst/>
              <a:ahLst/>
              <a:cxnLst/>
              <a:rect r="r" b="b" t="t" l="l"/>
              <a:pathLst>
                <a:path h="2959540" w="5669329">
                  <a:moveTo>
                    <a:pt x="5523279" y="2959540"/>
                  </a:moveTo>
                  <a:lnTo>
                    <a:pt x="164850" y="2959540"/>
                  </a:lnTo>
                  <a:cubicBezTo>
                    <a:pt x="66040" y="2959540"/>
                    <a:pt x="0" y="2893500"/>
                    <a:pt x="0" y="2813490"/>
                  </a:cubicBezTo>
                  <a:lnTo>
                    <a:pt x="0" y="146050"/>
                  </a:lnTo>
                  <a:cubicBezTo>
                    <a:pt x="0" y="66040"/>
                    <a:pt x="66040" y="0"/>
                    <a:pt x="164850" y="0"/>
                  </a:cubicBezTo>
                  <a:lnTo>
                    <a:pt x="5523279" y="0"/>
                  </a:lnTo>
                  <a:cubicBezTo>
                    <a:pt x="5603289" y="0"/>
                    <a:pt x="5669329" y="66040"/>
                    <a:pt x="5669329" y="146050"/>
                  </a:cubicBezTo>
                  <a:lnTo>
                    <a:pt x="5669329" y="2813490"/>
                  </a:lnTo>
                  <a:cubicBezTo>
                    <a:pt x="5669329" y="2894770"/>
                    <a:pt x="5603289" y="2959540"/>
                    <a:pt x="5523279" y="2959540"/>
                  </a:cubicBezTo>
                  <a:close/>
                </a:path>
              </a:pathLst>
            </a:custGeom>
            <a:solidFill>
              <a:srgbClr val="021633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734099" cy="3028120"/>
            </a:xfrm>
            <a:custGeom>
              <a:avLst/>
              <a:gdLst/>
              <a:ahLst/>
              <a:cxnLst/>
              <a:rect r="r" b="b" t="t" l="l"/>
              <a:pathLst>
                <a:path h="3028120" w="5734099">
                  <a:moveTo>
                    <a:pt x="63500" y="74930"/>
                  </a:moveTo>
                  <a:cubicBezTo>
                    <a:pt x="91440" y="30480"/>
                    <a:pt x="140970" y="0"/>
                    <a:pt x="216920" y="0"/>
                  </a:cubicBezTo>
                  <a:lnTo>
                    <a:pt x="5575349" y="0"/>
                  </a:lnTo>
                  <a:cubicBezTo>
                    <a:pt x="5662979" y="0"/>
                    <a:pt x="5734099" y="71120"/>
                    <a:pt x="5734099" y="158750"/>
                  </a:cubicBezTo>
                  <a:lnTo>
                    <a:pt x="5734099" y="2826190"/>
                  </a:lnTo>
                  <a:cubicBezTo>
                    <a:pt x="5734099" y="2878260"/>
                    <a:pt x="5708699" y="2923980"/>
                    <a:pt x="5670599" y="2953190"/>
                  </a:cubicBezTo>
                  <a:cubicBezTo>
                    <a:pt x="5642659" y="2997640"/>
                    <a:pt x="5593129" y="3028120"/>
                    <a:pt x="5535979" y="3028120"/>
                  </a:cubicBezTo>
                  <a:lnTo>
                    <a:pt x="158750" y="3028120"/>
                  </a:lnTo>
                  <a:cubicBezTo>
                    <a:pt x="71120" y="3028120"/>
                    <a:pt x="0" y="2957000"/>
                    <a:pt x="0" y="2869370"/>
                  </a:cubicBezTo>
                  <a:lnTo>
                    <a:pt x="0" y="208926"/>
                  </a:lnTo>
                  <a:cubicBezTo>
                    <a:pt x="0" y="149860"/>
                    <a:pt x="25400" y="104140"/>
                    <a:pt x="63500" y="74930"/>
                  </a:cubicBezTo>
                  <a:close/>
                  <a:moveTo>
                    <a:pt x="5721399" y="2826190"/>
                  </a:moveTo>
                  <a:lnTo>
                    <a:pt x="5721399" y="158750"/>
                  </a:lnTo>
                  <a:cubicBezTo>
                    <a:pt x="5721399" y="78740"/>
                    <a:pt x="5655359" y="12700"/>
                    <a:pt x="5575349" y="12700"/>
                  </a:cubicBezTo>
                  <a:lnTo>
                    <a:pt x="216920" y="12700"/>
                  </a:lnTo>
                  <a:cubicBezTo>
                    <a:pt x="118110" y="12700"/>
                    <a:pt x="52070" y="78740"/>
                    <a:pt x="52070" y="158750"/>
                  </a:cubicBezTo>
                  <a:lnTo>
                    <a:pt x="52070" y="2826190"/>
                  </a:lnTo>
                  <a:cubicBezTo>
                    <a:pt x="52070" y="2906200"/>
                    <a:pt x="118110" y="2972240"/>
                    <a:pt x="216920" y="2972240"/>
                  </a:cubicBezTo>
                  <a:lnTo>
                    <a:pt x="5575349" y="2972240"/>
                  </a:lnTo>
                  <a:cubicBezTo>
                    <a:pt x="5655359" y="2972240"/>
                    <a:pt x="5721399" y="2907470"/>
                    <a:pt x="5721399" y="2826190"/>
                  </a:cubicBez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868150" y="3352800"/>
            <a:ext cx="4619625" cy="3231344"/>
            <a:chOff x="0" y="0"/>
            <a:chExt cx="650279" cy="4548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50279" cy="454859"/>
            </a:xfrm>
            <a:custGeom>
              <a:avLst/>
              <a:gdLst/>
              <a:ahLst/>
              <a:cxnLst/>
              <a:rect r="r" b="b" t="t" l="l"/>
              <a:pathLst>
                <a:path h="454859" w="650279">
                  <a:moveTo>
                    <a:pt x="566485" y="0"/>
                  </a:moveTo>
                  <a:lnTo>
                    <a:pt x="83794" y="0"/>
                  </a:lnTo>
                  <a:cubicBezTo>
                    <a:pt x="61570" y="0"/>
                    <a:pt x="40257" y="8828"/>
                    <a:pt x="24543" y="24543"/>
                  </a:cubicBezTo>
                  <a:cubicBezTo>
                    <a:pt x="8828" y="40257"/>
                    <a:pt x="0" y="61570"/>
                    <a:pt x="0" y="83794"/>
                  </a:cubicBezTo>
                  <a:lnTo>
                    <a:pt x="0" y="371065"/>
                  </a:lnTo>
                  <a:cubicBezTo>
                    <a:pt x="0" y="393288"/>
                    <a:pt x="8828" y="414602"/>
                    <a:pt x="24543" y="430316"/>
                  </a:cubicBezTo>
                  <a:cubicBezTo>
                    <a:pt x="40257" y="446030"/>
                    <a:pt x="61570" y="454859"/>
                    <a:pt x="83794" y="454859"/>
                  </a:cubicBezTo>
                  <a:lnTo>
                    <a:pt x="566485" y="454859"/>
                  </a:lnTo>
                  <a:cubicBezTo>
                    <a:pt x="588709" y="454859"/>
                    <a:pt x="610022" y="446030"/>
                    <a:pt x="625737" y="430316"/>
                  </a:cubicBezTo>
                  <a:cubicBezTo>
                    <a:pt x="641451" y="414602"/>
                    <a:pt x="650279" y="393288"/>
                    <a:pt x="650279" y="371065"/>
                  </a:cubicBezTo>
                  <a:lnTo>
                    <a:pt x="650279" y="83794"/>
                  </a:lnTo>
                  <a:cubicBezTo>
                    <a:pt x="650279" y="61570"/>
                    <a:pt x="641451" y="40257"/>
                    <a:pt x="625737" y="24543"/>
                  </a:cubicBezTo>
                  <a:cubicBezTo>
                    <a:pt x="610022" y="8828"/>
                    <a:pt x="588709" y="0"/>
                    <a:pt x="566485" y="0"/>
                  </a:cubicBezTo>
                  <a:close/>
                </a:path>
              </a:pathLst>
            </a:custGeom>
            <a:blipFill>
              <a:blip r:embed="rId2"/>
              <a:stretch>
                <a:fillRect l="-232" t="0" r="-232" b="0"/>
              </a:stretch>
            </a:blipFill>
            <a:ln w="38100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6834188" y="3352800"/>
            <a:ext cx="4619625" cy="3231344"/>
            <a:chOff x="0" y="0"/>
            <a:chExt cx="650279" cy="45485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50279" cy="454859"/>
            </a:xfrm>
            <a:custGeom>
              <a:avLst/>
              <a:gdLst/>
              <a:ahLst/>
              <a:cxnLst/>
              <a:rect r="r" b="b" t="t" l="l"/>
              <a:pathLst>
                <a:path h="454859" w="650279">
                  <a:moveTo>
                    <a:pt x="566485" y="0"/>
                  </a:moveTo>
                  <a:lnTo>
                    <a:pt x="83794" y="0"/>
                  </a:lnTo>
                  <a:cubicBezTo>
                    <a:pt x="61570" y="0"/>
                    <a:pt x="40257" y="8828"/>
                    <a:pt x="24543" y="24543"/>
                  </a:cubicBezTo>
                  <a:cubicBezTo>
                    <a:pt x="8828" y="40257"/>
                    <a:pt x="0" y="61570"/>
                    <a:pt x="0" y="83794"/>
                  </a:cubicBezTo>
                  <a:lnTo>
                    <a:pt x="0" y="371065"/>
                  </a:lnTo>
                  <a:cubicBezTo>
                    <a:pt x="0" y="393288"/>
                    <a:pt x="8828" y="414602"/>
                    <a:pt x="24543" y="430316"/>
                  </a:cubicBezTo>
                  <a:cubicBezTo>
                    <a:pt x="40257" y="446030"/>
                    <a:pt x="61570" y="454859"/>
                    <a:pt x="83794" y="454859"/>
                  </a:cubicBezTo>
                  <a:lnTo>
                    <a:pt x="566485" y="454859"/>
                  </a:lnTo>
                  <a:cubicBezTo>
                    <a:pt x="588709" y="454859"/>
                    <a:pt x="610022" y="446030"/>
                    <a:pt x="625737" y="430316"/>
                  </a:cubicBezTo>
                  <a:cubicBezTo>
                    <a:pt x="641451" y="414602"/>
                    <a:pt x="650279" y="393288"/>
                    <a:pt x="650279" y="371065"/>
                  </a:cubicBezTo>
                  <a:lnTo>
                    <a:pt x="650279" y="83794"/>
                  </a:lnTo>
                  <a:cubicBezTo>
                    <a:pt x="650279" y="61570"/>
                    <a:pt x="641451" y="40257"/>
                    <a:pt x="625737" y="24543"/>
                  </a:cubicBezTo>
                  <a:cubicBezTo>
                    <a:pt x="610022" y="8828"/>
                    <a:pt x="588709" y="0"/>
                    <a:pt x="566485" y="0"/>
                  </a:cubicBezTo>
                  <a:close/>
                </a:path>
              </a:pathLst>
            </a:custGeom>
            <a:blipFill>
              <a:blip r:embed="rId3"/>
              <a:stretch>
                <a:fillRect l="-232" t="0" r="-232" b="0"/>
              </a:stretch>
            </a:blipFill>
            <a:ln w="38100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799437" y="3352800"/>
            <a:ext cx="4623063" cy="3231344"/>
            <a:chOff x="0" y="0"/>
            <a:chExt cx="650763" cy="45485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50763" cy="454859"/>
            </a:xfrm>
            <a:custGeom>
              <a:avLst/>
              <a:gdLst/>
              <a:ahLst/>
              <a:cxnLst/>
              <a:rect r="r" b="b" t="t" l="l"/>
              <a:pathLst>
                <a:path h="454859" w="650763">
                  <a:moveTo>
                    <a:pt x="567032" y="0"/>
                  </a:moveTo>
                  <a:lnTo>
                    <a:pt x="83732" y="0"/>
                  </a:lnTo>
                  <a:cubicBezTo>
                    <a:pt x="61525" y="0"/>
                    <a:pt x="40227" y="8822"/>
                    <a:pt x="24524" y="24524"/>
                  </a:cubicBezTo>
                  <a:cubicBezTo>
                    <a:pt x="8822" y="40227"/>
                    <a:pt x="0" y="61525"/>
                    <a:pt x="0" y="83732"/>
                  </a:cubicBezTo>
                  <a:lnTo>
                    <a:pt x="0" y="371127"/>
                  </a:lnTo>
                  <a:cubicBezTo>
                    <a:pt x="0" y="393334"/>
                    <a:pt x="8822" y="414631"/>
                    <a:pt x="24524" y="430334"/>
                  </a:cubicBezTo>
                  <a:cubicBezTo>
                    <a:pt x="40227" y="446037"/>
                    <a:pt x="61525" y="454859"/>
                    <a:pt x="83732" y="454859"/>
                  </a:cubicBezTo>
                  <a:lnTo>
                    <a:pt x="567032" y="454859"/>
                  </a:lnTo>
                  <a:cubicBezTo>
                    <a:pt x="589239" y="454859"/>
                    <a:pt x="610536" y="446037"/>
                    <a:pt x="626239" y="430334"/>
                  </a:cubicBezTo>
                  <a:cubicBezTo>
                    <a:pt x="641941" y="414631"/>
                    <a:pt x="650763" y="393334"/>
                    <a:pt x="650763" y="371127"/>
                  </a:cubicBezTo>
                  <a:lnTo>
                    <a:pt x="650763" y="83732"/>
                  </a:lnTo>
                  <a:cubicBezTo>
                    <a:pt x="650763" y="61525"/>
                    <a:pt x="641941" y="40227"/>
                    <a:pt x="626239" y="24524"/>
                  </a:cubicBezTo>
                  <a:cubicBezTo>
                    <a:pt x="610536" y="8822"/>
                    <a:pt x="589239" y="0"/>
                    <a:pt x="567032" y="0"/>
                  </a:cubicBezTo>
                  <a:close/>
                </a:path>
              </a:pathLst>
            </a:custGeom>
            <a:blipFill>
              <a:blip r:embed="rId4"/>
              <a:stretch>
                <a:fillRect l="-194" t="0" r="-194" b="0"/>
              </a:stretch>
            </a:blipFill>
            <a:ln w="38100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1868150" y="6934200"/>
            <a:ext cx="4619625" cy="1196340"/>
            <a:chOff x="0" y="0"/>
            <a:chExt cx="6159500" cy="159512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527685"/>
              <a:ext cx="6159500" cy="10674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rtl="true" marL="0" indent="0" lvl="0">
                <a:lnSpc>
                  <a:spcPts val="3120"/>
                </a:lnSpc>
              </a:pPr>
              <a:r>
                <a:rPr lang="en-US" b="true" sz="2400">
                  <a:solidFill>
                    <a:srgbClr val="F3E5B8"/>
                  </a:solidFill>
                  <a:latin typeface="Codec Pro Bold"/>
                  <a:ea typeface="Codec Pro Bold"/>
                  <a:cs typeface="Codec Pro Bold"/>
                  <a:sym typeface="Codec Pro Bold"/>
                </a:rPr>
                <a:t>Seamless integration</a:t>
              </a:r>
              <a:r>
                <a:rPr lang="en-US" sz="2400">
                  <a:solidFill>
                    <a:srgbClr val="F3E5B8"/>
                  </a:solidFill>
                  <a:latin typeface="Codec Pro"/>
                  <a:ea typeface="Codec Pro"/>
                  <a:cs typeface="Codec Pro"/>
                  <a:sym typeface="Codec Pro"/>
                </a:rPr>
                <a:t> for all school management tasks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66675"/>
              <a:ext cx="6159500" cy="5594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rtl="true" marL="0" indent="0" lvl="0">
                <a:lnSpc>
                  <a:spcPts val="3120"/>
                </a:lnSpc>
              </a:pPr>
              <a:r>
                <a:rPr lang="ar-EG" b="true" sz="2400">
                  <a:solidFill>
                    <a:srgbClr val="F3E5B8"/>
                  </a:solidFill>
                  <a:latin typeface="Codec Pro Ultra-Bold"/>
                  <a:ea typeface="Codec Pro Ultra-Bold"/>
                  <a:cs typeface="Codec Pro Ultra-Bold"/>
                  <a:sym typeface="Codec Pro Ultra-Bold"/>
                  <a:rtl val="true"/>
                </a:rPr>
                <a:t>بوابة متكاملة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974559" y="6934200"/>
            <a:ext cx="4479254" cy="1196340"/>
            <a:chOff x="0" y="0"/>
            <a:chExt cx="5972338" cy="1595120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527685"/>
              <a:ext cx="5972338" cy="10674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rtl="true" marL="0" indent="0" lvl="0">
                <a:lnSpc>
                  <a:spcPts val="3120"/>
                </a:lnSpc>
              </a:pPr>
              <a:r>
                <a:rPr lang="en-US" b="true" sz="2400">
                  <a:solidFill>
                    <a:srgbClr val="F3E5B8"/>
                  </a:solidFill>
                  <a:latin typeface="Codec Pro Bold"/>
                  <a:ea typeface="Codec Pro Bold"/>
                  <a:cs typeface="Codec Pro Bold"/>
                  <a:sym typeface="Codec Pro Bold"/>
                </a:rPr>
                <a:t>Real-time analytics</a:t>
              </a:r>
              <a:r>
                <a:rPr lang="en-US" sz="2400">
                  <a:solidFill>
                    <a:srgbClr val="F3E5B8"/>
                  </a:solidFill>
                  <a:latin typeface="Codec Pro"/>
                  <a:ea typeface="Codec Pro"/>
                  <a:cs typeface="Codec Pro"/>
                  <a:sym typeface="Codec Pro"/>
                </a:rPr>
                <a:t> for tracking student performance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-66675"/>
              <a:ext cx="5972338" cy="5594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rtl="true" marL="0" indent="0" lvl="0">
                <a:lnSpc>
                  <a:spcPts val="3120"/>
                </a:lnSpc>
              </a:pPr>
              <a:r>
                <a:rPr lang="ar-EG" b="true" sz="2400">
                  <a:solidFill>
                    <a:srgbClr val="F3E5B8"/>
                  </a:solidFill>
                  <a:latin typeface="Codec Pro Ultra-Bold"/>
                  <a:ea typeface="Codec Pro Ultra-Bold"/>
                  <a:cs typeface="Codec Pro Ultra-Bold"/>
                  <a:sym typeface="Codec Pro Ultra-Bold"/>
                  <a:rtl val="true"/>
                </a:rPr>
                <a:t>تحليل فوري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99437" y="6934200"/>
            <a:ext cx="4620413" cy="1196340"/>
            <a:chOff x="0" y="0"/>
            <a:chExt cx="6160551" cy="1595120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527685"/>
              <a:ext cx="6160551" cy="10674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rtl="true" marL="0" indent="0" lvl="0">
                <a:lnSpc>
                  <a:spcPts val="3120"/>
                </a:lnSpc>
              </a:pPr>
              <a:r>
                <a:rPr lang="en-US" b="true" sz="2400">
                  <a:solidFill>
                    <a:srgbClr val="F3E5B8"/>
                  </a:solidFill>
                  <a:latin typeface="Codec Pro Bold"/>
                  <a:ea typeface="Codec Pro Bold"/>
                  <a:cs typeface="Codec Pro Bold"/>
                  <a:sym typeface="Codec Pro Bold"/>
                </a:rPr>
                <a:t>Distance learning</a:t>
              </a:r>
              <a:r>
                <a:rPr lang="en-US" sz="2400">
                  <a:solidFill>
                    <a:srgbClr val="F3E5B8"/>
                  </a:solidFill>
                  <a:latin typeface="Codec Pro"/>
                  <a:ea typeface="Codec Pro"/>
                  <a:cs typeface="Codec Pro"/>
                  <a:sym typeface="Codec Pro"/>
                </a:rPr>
                <a:t> resources for flexible education options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-66675"/>
              <a:ext cx="6160551" cy="5594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rtl="true" marL="0" indent="0" lvl="0">
                <a:lnSpc>
                  <a:spcPts val="3120"/>
                </a:lnSpc>
              </a:pPr>
              <a:r>
                <a:rPr lang="ar-EG" b="true" sz="2400">
                  <a:solidFill>
                    <a:srgbClr val="F3E5B8"/>
                  </a:solidFill>
                  <a:latin typeface="Codec Pro Ultra-Bold"/>
                  <a:ea typeface="Codec Pro Ultra-Bold"/>
                  <a:cs typeface="Codec Pro Ultra-Bold"/>
                  <a:sym typeface="Codec Pro Ultra-Bold"/>
                  <a:rtl val="true"/>
                </a:rPr>
                <a:t>نظام التعلم عن بُعد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049371" y="1028700"/>
            <a:ext cx="14189259" cy="1710692"/>
            <a:chOff x="0" y="0"/>
            <a:chExt cx="18919012" cy="2280923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1057911"/>
              <a:ext cx="18919012" cy="12230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rtl="true" marL="0" indent="0" lvl="0">
                <a:lnSpc>
                  <a:spcPts val="7019"/>
                </a:lnSpc>
              </a:pPr>
              <a:r>
                <a:rPr lang="ar-EG" b="true" sz="5399">
                  <a:solidFill>
                    <a:srgbClr val="F3E5B8"/>
                  </a:solidFill>
                  <a:latin typeface="Codec Pro Bold"/>
                  <a:ea typeface="Codec Pro Bold"/>
                  <a:cs typeface="Codec Pro Bold"/>
                  <a:sym typeface="Codec Pro Bold"/>
                  <a:rtl val="true"/>
                </a:rPr>
                <a:t>الحل | </a:t>
              </a:r>
              <a:r>
                <a:rPr lang="en-US" b="true" sz="5399">
                  <a:solidFill>
                    <a:srgbClr val="F3E5B8"/>
                  </a:solidFill>
                  <a:latin typeface="Codec Pro Bold"/>
                  <a:ea typeface="Codec Pro Bold"/>
                  <a:cs typeface="Codec Pro Bold"/>
                  <a:sym typeface="Codec Pro Bold"/>
                </a:rPr>
                <a:t>Th</a:t>
              </a:r>
              <a:r>
                <a:rPr lang="en-US" b="true" sz="5399">
                  <a:solidFill>
                    <a:srgbClr val="F3E5B8"/>
                  </a:solidFill>
                  <a:latin typeface="Codec Pro Bold"/>
                  <a:ea typeface="Codec Pro Bold"/>
                  <a:cs typeface="Codec Pro Bold"/>
                  <a:sym typeface="Codec Pro Bold"/>
                </a:rPr>
                <a:t>e Solution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-133350"/>
              <a:ext cx="18919012" cy="12230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rtl="true" marL="0" indent="0" lvl="0">
                <a:lnSpc>
                  <a:spcPts val="7019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6954500" cy="8953500"/>
            <a:chOff x="0" y="0"/>
            <a:chExt cx="5734099" cy="3028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52070" y="12700"/>
              <a:ext cx="5669329" cy="2959540"/>
            </a:xfrm>
            <a:custGeom>
              <a:avLst/>
              <a:gdLst/>
              <a:ahLst/>
              <a:cxnLst/>
              <a:rect r="r" b="b" t="t" l="l"/>
              <a:pathLst>
                <a:path h="2959540" w="5669329">
                  <a:moveTo>
                    <a:pt x="5523279" y="2959540"/>
                  </a:moveTo>
                  <a:lnTo>
                    <a:pt x="164850" y="2959540"/>
                  </a:lnTo>
                  <a:cubicBezTo>
                    <a:pt x="66040" y="2959540"/>
                    <a:pt x="0" y="2893500"/>
                    <a:pt x="0" y="2813490"/>
                  </a:cubicBezTo>
                  <a:lnTo>
                    <a:pt x="0" y="146050"/>
                  </a:lnTo>
                  <a:cubicBezTo>
                    <a:pt x="0" y="66040"/>
                    <a:pt x="66040" y="0"/>
                    <a:pt x="164850" y="0"/>
                  </a:cubicBezTo>
                  <a:lnTo>
                    <a:pt x="5523279" y="0"/>
                  </a:lnTo>
                  <a:cubicBezTo>
                    <a:pt x="5603289" y="0"/>
                    <a:pt x="5669329" y="66040"/>
                    <a:pt x="5669329" y="146050"/>
                  </a:cubicBezTo>
                  <a:lnTo>
                    <a:pt x="5669329" y="2813490"/>
                  </a:lnTo>
                  <a:cubicBezTo>
                    <a:pt x="5669329" y="2894770"/>
                    <a:pt x="5603289" y="2959540"/>
                    <a:pt x="5523279" y="2959540"/>
                  </a:cubicBezTo>
                  <a:close/>
                </a:path>
              </a:pathLst>
            </a:custGeom>
            <a:solidFill>
              <a:srgbClr val="021633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734099" cy="3028120"/>
            </a:xfrm>
            <a:custGeom>
              <a:avLst/>
              <a:gdLst/>
              <a:ahLst/>
              <a:cxnLst/>
              <a:rect r="r" b="b" t="t" l="l"/>
              <a:pathLst>
                <a:path h="3028120" w="5734099">
                  <a:moveTo>
                    <a:pt x="63500" y="74930"/>
                  </a:moveTo>
                  <a:cubicBezTo>
                    <a:pt x="91440" y="30480"/>
                    <a:pt x="140970" y="0"/>
                    <a:pt x="216920" y="0"/>
                  </a:cubicBezTo>
                  <a:lnTo>
                    <a:pt x="5575349" y="0"/>
                  </a:lnTo>
                  <a:cubicBezTo>
                    <a:pt x="5662979" y="0"/>
                    <a:pt x="5734099" y="71120"/>
                    <a:pt x="5734099" y="158750"/>
                  </a:cubicBezTo>
                  <a:lnTo>
                    <a:pt x="5734099" y="2826190"/>
                  </a:lnTo>
                  <a:cubicBezTo>
                    <a:pt x="5734099" y="2878260"/>
                    <a:pt x="5708699" y="2923980"/>
                    <a:pt x="5670599" y="2953190"/>
                  </a:cubicBezTo>
                  <a:cubicBezTo>
                    <a:pt x="5642659" y="2997640"/>
                    <a:pt x="5593129" y="3028120"/>
                    <a:pt x="5535979" y="3028120"/>
                  </a:cubicBezTo>
                  <a:lnTo>
                    <a:pt x="158750" y="3028120"/>
                  </a:lnTo>
                  <a:cubicBezTo>
                    <a:pt x="71120" y="3028120"/>
                    <a:pt x="0" y="2957000"/>
                    <a:pt x="0" y="2869370"/>
                  </a:cubicBezTo>
                  <a:lnTo>
                    <a:pt x="0" y="208926"/>
                  </a:lnTo>
                  <a:cubicBezTo>
                    <a:pt x="0" y="149860"/>
                    <a:pt x="25400" y="104140"/>
                    <a:pt x="63500" y="74930"/>
                  </a:cubicBezTo>
                  <a:close/>
                  <a:moveTo>
                    <a:pt x="5721399" y="2826190"/>
                  </a:moveTo>
                  <a:lnTo>
                    <a:pt x="5721399" y="158750"/>
                  </a:lnTo>
                  <a:cubicBezTo>
                    <a:pt x="5721399" y="78740"/>
                    <a:pt x="5655359" y="12700"/>
                    <a:pt x="5575349" y="12700"/>
                  </a:cubicBezTo>
                  <a:lnTo>
                    <a:pt x="216920" y="12700"/>
                  </a:lnTo>
                  <a:cubicBezTo>
                    <a:pt x="118110" y="12700"/>
                    <a:pt x="52070" y="78740"/>
                    <a:pt x="52070" y="158750"/>
                  </a:cubicBezTo>
                  <a:lnTo>
                    <a:pt x="52070" y="2826190"/>
                  </a:lnTo>
                  <a:cubicBezTo>
                    <a:pt x="52070" y="2906200"/>
                    <a:pt x="118110" y="2972240"/>
                    <a:pt x="216920" y="2972240"/>
                  </a:cubicBezTo>
                  <a:lnTo>
                    <a:pt x="5575349" y="2972240"/>
                  </a:lnTo>
                  <a:cubicBezTo>
                    <a:pt x="5655359" y="2972240"/>
                    <a:pt x="5721399" y="2907470"/>
                    <a:pt x="5721399" y="2826190"/>
                  </a:cubicBez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868150" y="3352800"/>
            <a:ext cx="4619625" cy="3231344"/>
            <a:chOff x="0" y="0"/>
            <a:chExt cx="650279" cy="4548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50279" cy="454859"/>
            </a:xfrm>
            <a:custGeom>
              <a:avLst/>
              <a:gdLst/>
              <a:ahLst/>
              <a:cxnLst/>
              <a:rect r="r" b="b" t="t" l="l"/>
              <a:pathLst>
                <a:path h="454859" w="650279">
                  <a:moveTo>
                    <a:pt x="566485" y="0"/>
                  </a:moveTo>
                  <a:lnTo>
                    <a:pt x="83794" y="0"/>
                  </a:lnTo>
                  <a:cubicBezTo>
                    <a:pt x="61570" y="0"/>
                    <a:pt x="40257" y="8828"/>
                    <a:pt x="24543" y="24543"/>
                  </a:cubicBezTo>
                  <a:cubicBezTo>
                    <a:pt x="8828" y="40257"/>
                    <a:pt x="0" y="61570"/>
                    <a:pt x="0" y="83794"/>
                  </a:cubicBezTo>
                  <a:lnTo>
                    <a:pt x="0" y="371065"/>
                  </a:lnTo>
                  <a:cubicBezTo>
                    <a:pt x="0" y="393288"/>
                    <a:pt x="8828" y="414602"/>
                    <a:pt x="24543" y="430316"/>
                  </a:cubicBezTo>
                  <a:cubicBezTo>
                    <a:pt x="40257" y="446030"/>
                    <a:pt x="61570" y="454859"/>
                    <a:pt x="83794" y="454859"/>
                  </a:cubicBezTo>
                  <a:lnTo>
                    <a:pt x="566485" y="454859"/>
                  </a:lnTo>
                  <a:cubicBezTo>
                    <a:pt x="588709" y="454859"/>
                    <a:pt x="610022" y="446030"/>
                    <a:pt x="625737" y="430316"/>
                  </a:cubicBezTo>
                  <a:cubicBezTo>
                    <a:pt x="641451" y="414602"/>
                    <a:pt x="650279" y="393288"/>
                    <a:pt x="650279" y="371065"/>
                  </a:cubicBezTo>
                  <a:lnTo>
                    <a:pt x="650279" y="83794"/>
                  </a:lnTo>
                  <a:cubicBezTo>
                    <a:pt x="650279" y="61570"/>
                    <a:pt x="641451" y="40257"/>
                    <a:pt x="625737" y="24543"/>
                  </a:cubicBezTo>
                  <a:cubicBezTo>
                    <a:pt x="610022" y="8828"/>
                    <a:pt x="588709" y="0"/>
                    <a:pt x="566485" y="0"/>
                  </a:cubicBezTo>
                  <a:close/>
                </a:path>
              </a:pathLst>
            </a:custGeom>
            <a:blipFill>
              <a:blip r:embed="rId2"/>
              <a:stretch>
                <a:fillRect l="-232" t="0" r="-232" b="0"/>
              </a:stretch>
            </a:blipFill>
            <a:ln w="38100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6834188" y="3352800"/>
            <a:ext cx="4619625" cy="3231344"/>
            <a:chOff x="0" y="0"/>
            <a:chExt cx="650279" cy="45485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50279" cy="454859"/>
            </a:xfrm>
            <a:custGeom>
              <a:avLst/>
              <a:gdLst/>
              <a:ahLst/>
              <a:cxnLst/>
              <a:rect r="r" b="b" t="t" l="l"/>
              <a:pathLst>
                <a:path h="454859" w="650279">
                  <a:moveTo>
                    <a:pt x="566485" y="0"/>
                  </a:moveTo>
                  <a:lnTo>
                    <a:pt x="83794" y="0"/>
                  </a:lnTo>
                  <a:cubicBezTo>
                    <a:pt x="61570" y="0"/>
                    <a:pt x="40257" y="8828"/>
                    <a:pt x="24543" y="24543"/>
                  </a:cubicBezTo>
                  <a:cubicBezTo>
                    <a:pt x="8828" y="40257"/>
                    <a:pt x="0" y="61570"/>
                    <a:pt x="0" y="83794"/>
                  </a:cubicBezTo>
                  <a:lnTo>
                    <a:pt x="0" y="371065"/>
                  </a:lnTo>
                  <a:cubicBezTo>
                    <a:pt x="0" y="393288"/>
                    <a:pt x="8828" y="414602"/>
                    <a:pt x="24543" y="430316"/>
                  </a:cubicBezTo>
                  <a:cubicBezTo>
                    <a:pt x="40257" y="446030"/>
                    <a:pt x="61570" y="454859"/>
                    <a:pt x="83794" y="454859"/>
                  </a:cubicBezTo>
                  <a:lnTo>
                    <a:pt x="566485" y="454859"/>
                  </a:lnTo>
                  <a:cubicBezTo>
                    <a:pt x="588709" y="454859"/>
                    <a:pt x="610022" y="446030"/>
                    <a:pt x="625737" y="430316"/>
                  </a:cubicBezTo>
                  <a:cubicBezTo>
                    <a:pt x="641451" y="414602"/>
                    <a:pt x="650279" y="393288"/>
                    <a:pt x="650279" y="371065"/>
                  </a:cubicBezTo>
                  <a:lnTo>
                    <a:pt x="650279" y="83794"/>
                  </a:lnTo>
                  <a:cubicBezTo>
                    <a:pt x="650279" y="61570"/>
                    <a:pt x="641451" y="40257"/>
                    <a:pt x="625737" y="24543"/>
                  </a:cubicBezTo>
                  <a:cubicBezTo>
                    <a:pt x="610022" y="8828"/>
                    <a:pt x="588709" y="0"/>
                    <a:pt x="566485" y="0"/>
                  </a:cubicBezTo>
                  <a:close/>
                </a:path>
              </a:pathLst>
            </a:custGeom>
            <a:blipFill>
              <a:blip r:embed="rId3"/>
              <a:stretch>
                <a:fillRect l="-232" t="0" r="-232" b="0"/>
              </a:stretch>
            </a:blipFill>
            <a:ln w="38100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799437" y="3352800"/>
            <a:ext cx="4623063" cy="3231344"/>
            <a:chOff x="0" y="0"/>
            <a:chExt cx="650763" cy="45485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50763" cy="454859"/>
            </a:xfrm>
            <a:custGeom>
              <a:avLst/>
              <a:gdLst/>
              <a:ahLst/>
              <a:cxnLst/>
              <a:rect r="r" b="b" t="t" l="l"/>
              <a:pathLst>
                <a:path h="454859" w="650763">
                  <a:moveTo>
                    <a:pt x="567032" y="0"/>
                  </a:moveTo>
                  <a:lnTo>
                    <a:pt x="83732" y="0"/>
                  </a:lnTo>
                  <a:cubicBezTo>
                    <a:pt x="61525" y="0"/>
                    <a:pt x="40227" y="8822"/>
                    <a:pt x="24524" y="24524"/>
                  </a:cubicBezTo>
                  <a:cubicBezTo>
                    <a:pt x="8822" y="40227"/>
                    <a:pt x="0" y="61525"/>
                    <a:pt x="0" y="83732"/>
                  </a:cubicBezTo>
                  <a:lnTo>
                    <a:pt x="0" y="371127"/>
                  </a:lnTo>
                  <a:cubicBezTo>
                    <a:pt x="0" y="393334"/>
                    <a:pt x="8822" y="414631"/>
                    <a:pt x="24524" y="430334"/>
                  </a:cubicBezTo>
                  <a:cubicBezTo>
                    <a:pt x="40227" y="446037"/>
                    <a:pt x="61525" y="454859"/>
                    <a:pt x="83732" y="454859"/>
                  </a:cubicBezTo>
                  <a:lnTo>
                    <a:pt x="567032" y="454859"/>
                  </a:lnTo>
                  <a:cubicBezTo>
                    <a:pt x="589239" y="454859"/>
                    <a:pt x="610536" y="446037"/>
                    <a:pt x="626239" y="430334"/>
                  </a:cubicBezTo>
                  <a:cubicBezTo>
                    <a:pt x="641941" y="414631"/>
                    <a:pt x="650763" y="393334"/>
                    <a:pt x="650763" y="371127"/>
                  </a:cubicBezTo>
                  <a:lnTo>
                    <a:pt x="650763" y="83732"/>
                  </a:lnTo>
                  <a:cubicBezTo>
                    <a:pt x="650763" y="61525"/>
                    <a:pt x="641941" y="40227"/>
                    <a:pt x="626239" y="24524"/>
                  </a:cubicBezTo>
                  <a:cubicBezTo>
                    <a:pt x="610536" y="8822"/>
                    <a:pt x="589239" y="0"/>
                    <a:pt x="567032" y="0"/>
                  </a:cubicBezTo>
                  <a:close/>
                </a:path>
              </a:pathLst>
            </a:custGeom>
            <a:blipFill>
              <a:blip r:embed="rId4"/>
              <a:stretch>
                <a:fillRect l="-194" t="0" r="-194" b="0"/>
              </a:stretch>
            </a:blipFill>
            <a:ln w="38100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1868150" y="6934200"/>
            <a:ext cx="4619625" cy="1196340"/>
            <a:chOff x="0" y="0"/>
            <a:chExt cx="6159500" cy="159512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527685"/>
              <a:ext cx="6159500" cy="10674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rtl="true" marL="0" indent="0" lvl="0">
                <a:lnSpc>
                  <a:spcPts val="3120"/>
                </a:lnSpc>
              </a:pPr>
              <a:r>
                <a:rPr lang="en-US" sz="2400">
                  <a:solidFill>
                    <a:srgbClr val="F3E5B8"/>
                  </a:solidFill>
                  <a:latin typeface="Codec Pro"/>
                  <a:ea typeface="Codec Pro"/>
                  <a:cs typeface="Codec Pro"/>
                  <a:sym typeface="Codec Pro"/>
                </a:rPr>
                <a:t>Full access to manage all sections</a:t>
              </a:r>
              <a:r>
                <a:rPr lang="ar-EG" sz="2400">
                  <a:solidFill>
                    <a:srgbClr val="F3E5B8"/>
                  </a:solidFill>
                  <a:latin typeface="Codec Pro"/>
                  <a:ea typeface="Codec Pro"/>
                  <a:cs typeface="Codec Pro"/>
                  <a:sym typeface="Codec Pro"/>
                  <a:rtl val="true"/>
                </a:rPr>
                <a:t>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66675"/>
              <a:ext cx="6159500" cy="5594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rtl="true" marL="0" indent="0" lvl="0">
                <a:lnSpc>
                  <a:spcPts val="3120"/>
                </a:lnSpc>
              </a:pPr>
              <a:r>
                <a:rPr lang="ar-EG" b="true" sz="2400">
                  <a:solidFill>
                    <a:srgbClr val="F3E5B8"/>
                  </a:solidFill>
                  <a:latin typeface="Codec Pro Ultra-Bold"/>
                  <a:ea typeface="Codec Pro Ultra-Bold"/>
                  <a:cs typeface="Codec Pro Ultra-Bold"/>
                  <a:sym typeface="Codec Pro Ultra-Bold"/>
                  <a:rtl val="true"/>
                </a:rPr>
                <a:t>المدير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974559" y="6934200"/>
            <a:ext cx="4479254" cy="1196340"/>
            <a:chOff x="0" y="0"/>
            <a:chExt cx="5972338" cy="1595120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527685"/>
              <a:ext cx="5972338" cy="10674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rtl="true" marL="0" indent="0" lvl="0">
                <a:lnSpc>
                  <a:spcPts val="3120"/>
                </a:lnSpc>
              </a:pPr>
              <a:r>
                <a:rPr lang="en-US" sz="2400">
                  <a:solidFill>
                    <a:srgbClr val="F3E5B8"/>
                  </a:solidFill>
                  <a:latin typeface="Codec Pro"/>
                  <a:ea typeface="Codec Pro"/>
                  <a:cs typeface="Codec Pro"/>
                  <a:sym typeface="Codec Pro"/>
                </a:rPr>
                <a:t>View data and submit necessary forms</a:t>
              </a:r>
              <a:r>
                <a:rPr lang="ar-EG" sz="2400">
                  <a:solidFill>
                    <a:srgbClr val="F3E5B8"/>
                  </a:solidFill>
                  <a:latin typeface="Codec Pro"/>
                  <a:ea typeface="Codec Pro"/>
                  <a:cs typeface="Codec Pro"/>
                  <a:sym typeface="Codec Pro"/>
                  <a:rtl val="true"/>
                </a:rPr>
                <a:t>.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-66675"/>
              <a:ext cx="5972338" cy="5594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rtl="true" marL="0" indent="0" lvl="0">
                <a:lnSpc>
                  <a:spcPts val="3120"/>
                </a:lnSpc>
              </a:pPr>
              <a:r>
                <a:rPr lang="ar-EG" b="true" sz="2400">
                  <a:solidFill>
                    <a:srgbClr val="F3E5B8"/>
                  </a:solidFill>
                  <a:latin typeface="Codec Pro Ultra-Bold"/>
                  <a:ea typeface="Codec Pro Ultra-Bold"/>
                  <a:cs typeface="Codec Pro Ultra-Bold"/>
                  <a:sym typeface="Codec Pro Ultra-Bold"/>
                  <a:rtl val="true"/>
                </a:rPr>
                <a:t>المعلمون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99437" y="6934200"/>
            <a:ext cx="4620413" cy="1196340"/>
            <a:chOff x="0" y="0"/>
            <a:chExt cx="6160551" cy="1595120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527685"/>
              <a:ext cx="6160551" cy="10674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rtl="true" marL="0" indent="0" lvl="0">
                <a:lnSpc>
                  <a:spcPts val="3120"/>
                </a:lnSpc>
              </a:pPr>
              <a:r>
                <a:rPr lang="en-US" sz="2400">
                  <a:solidFill>
                    <a:srgbClr val="F3E5B8"/>
                  </a:solidFill>
                  <a:latin typeface="Codec Pro"/>
                  <a:ea typeface="Codec Pro"/>
                  <a:cs typeface="Codec Pro"/>
                  <a:sym typeface="Codec Pro"/>
                </a:rPr>
                <a:t>Create forms and view important reports</a:t>
              </a:r>
              <a:r>
                <a:rPr lang="ar-EG" sz="2400">
                  <a:solidFill>
                    <a:srgbClr val="F3E5B8"/>
                  </a:solidFill>
                  <a:latin typeface="Codec Pro"/>
                  <a:ea typeface="Codec Pro"/>
                  <a:cs typeface="Codec Pro"/>
                  <a:sym typeface="Codec Pro"/>
                  <a:rtl val="true"/>
                </a:rPr>
                <a:t>.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-66675"/>
              <a:ext cx="6160551" cy="5594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rtl="true" marL="0" indent="0" lvl="0">
                <a:lnSpc>
                  <a:spcPts val="3120"/>
                </a:lnSpc>
              </a:pPr>
              <a:r>
                <a:rPr lang="ar-EG" b="true" sz="2400">
                  <a:solidFill>
                    <a:srgbClr val="F3E5B8"/>
                  </a:solidFill>
                  <a:latin typeface="Codec Pro Ultra-Bold"/>
                  <a:ea typeface="Codec Pro Ultra-Bold"/>
                  <a:cs typeface="Codec Pro Ultra-Bold"/>
                  <a:sym typeface="Codec Pro Ultra-Bold"/>
                  <a:rtl val="true"/>
                </a:rPr>
                <a:t>الإداريون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2049371" y="1673422"/>
            <a:ext cx="14189259" cy="950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 marL="0" indent="0" lvl="0">
              <a:lnSpc>
                <a:spcPts val="7019"/>
              </a:lnSpc>
            </a:pPr>
            <a:r>
              <a:rPr lang="ar-EG" b="true" sz="5399">
                <a:solidFill>
                  <a:srgbClr val="F3E5B8"/>
                </a:solidFill>
                <a:latin typeface="Codec Pro Bold"/>
                <a:ea typeface="Codec Pro Bold"/>
                <a:cs typeface="Codec Pro Bold"/>
                <a:sym typeface="Codec Pro Bold"/>
                <a:rtl val="true"/>
              </a:rPr>
              <a:t>أدوار المستخدمين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6954500" cy="8953500"/>
            <a:chOff x="0" y="0"/>
            <a:chExt cx="5734099" cy="3028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52070" y="12700"/>
              <a:ext cx="5669329" cy="2959540"/>
            </a:xfrm>
            <a:custGeom>
              <a:avLst/>
              <a:gdLst/>
              <a:ahLst/>
              <a:cxnLst/>
              <a:rect r="r" b="b" t="t" l="l"/>
              <a:pathLst>
                <a:path h="2959540" w="5669329">
                  <a:moveTo>
                    <a:pt x="5523279" y="2959540"/>
                  </a:moveTo>
                  <a:lnTo>
                    <a:pt x="164850" y="2959540"/>
                  </a:lnTo>
                  <a:cubicBezTo>
                    <a:pt x="66040" y="2959540"/>
                    <a:pt x="0" y="2893500"/>
                    <a:pt x="0" y="2813490"/>
                  </a:cubicBezTo>
                  <a:lnTo>
                    <a:pt x="0" y="146050"/>
                  </a:lnTo>
                  <a:cubicBezTo>
                    <a:pt x="0" y="66040"/>
                    <a:pt x="66040" y="0"/>
                    <a:pt x="164850" y="0"/>
                  </a:cubicBezTo>
                  <a:lnTo>
                    <a:pt x="5523279" y="0"/>
                  </a:lnTo>
                  <a:cubicBezTo>
                    <a:pt x="5603289" y="0"/>
                    <a:pt x="5669329" y="66040"/>
                    <a:pt x="5669329" y="146050"/>
                  </a:cubicBezTo>
                  <a:lnTo>
                    <a:pt x="5669329" y="2813490"/>
                  </a:lnTo>
                  <a:cubicBezTo>
                    <a:pt x="5669329" y="2894770"/>
                    <a:pt x="5603289" y="2959540"/>
                    <a:pt x="5523279" y="2959540"/>
                  </a:cubicBezTo>
                  <a:close/>
                </a:path>
              </a:pathLst>
            </a:custGeom>
            <a:solidFill>
              <a:srgbClr val="021633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734099" cy="3028120"/>
            </a:xfrm>
            <a:custGeom>
              <a:avLst/>
              <a:gdLst/>
              <a:ahLst/>
              <a:cxnLst/>
              <a:rect r="r" b="b" t="t" l="l"/>
              <a:pathLst>
                <a:path h="3028120" w="5734099">
                  <a:moveTo>
                    <a:pt x="63500" y="74930"/>
                  </a:moveTo>
                  <a:cubicBezTo>
                    <a:pt x="91440" y="30480"/>
                    <a:pt x="140970" y="0"/>
                    <a:pt x="216920" y="0"/>
                  </a:cubicBezTo>
                  <a:lnTo>
                    <a:pt x="5575349" y="0"/>
                  </a:lnTo>
                  <a:cubicBezTo>
                    <a:pt x="5662979" y="0"/>
                    <a:pt x="5734099" y="71120"/>
                    <a:pt x="5734099" y="158750"/>
                  </a:cubicBezTo>
                  <a:lnTo>
                    <a:pt x="5734099" y="2826190"/>
                  </a:lnTo>
                  <a:cubicBezTo>
                    <a:pt x="5734099" y="2878260"/>
                    <a:pt x="5708699" y="2923980"/>
                    <a:pt x="5670599" y="2953190"/>
                  </a:cubicBezTo>
                  <a:cubicBezTo>
                    <a:pt x="5642659" y="2997640"/>
                    <a:pt x="5593129" y="3028120"/>
                    <a:pt x="5535979" y="3028120"/>
                  </a:cubicBezTo>
                  <a:lnTo>
                    <a:pt x="158750" y="3028120"/>
                  </a:lnTo>
                  <a:cubicBezTo>
                    <a:pt x="71120" y="3028120"/>
                    <a:pt x="0" y="2957000"/>
                    <a:pt x="0" y="2869370"/>
                  </a:cubicBezTo>
                  <a:lnTo>
                    <a:pt x="0" y="208926"/>
                  </a:lnTo>
                  <a:cubicBezTo>
                    <a:pt x="0" y="149860"/>
                    <a:pt x="25400" y="104140"/>
                    <a:pt x="63500" y="74930"/>
                  </a:cubicBezTo>
                  <a:close/>
                  <a:moveTo>
                    <a:pt x="5721399" y="2826190"/>
                  </a:moveTo>
                  <a:lnTo>
                    <a:pt x="5721399" y="158750"/>
                  </a:lnTo>
                  <a:cubicBezTo>
                    <a:pt x="5721399" y="78740"/>
                    <a:pt x="5655359" y="12700"/>
                    <a:pt x="5575349" y="12700"/>
                  </a:cubicBezTo>
                  <a:lnTo>
                    <a:pt x="216920" y="12700"/>
                  </a:lnTo>
                  <a:cubicBezTo>
                    <a:pt x="118110" y="12700"/>
                    <a:pt x="52070" y="78740"/>
                    <a:pt x="52070" y="158750"/>
                  </a:cubicBezTo>
                  <a:lnTo>
                    <a:pt x="52070" y="2826190"/>
                  </a:lnTo>
                  <a:cubicBezTo>
                    <a:pt x="52070" y="2906200"/>
                    <a:pt x="118110" y="2972240"/>
                    <a:pt x="216920" y="2972240"/>
                  </a:cubicBezTo>
                  <a:lnTo>
                    <a:pt x="5575349" y="2972240"/>
                  </a:lnTo>
                  <a:cubicBezTo>
                    <a:pt x="5655359" y="2972240"/>
                    <a:pt x="5721399" y="2907470"/>
                    <a:pt x="5721399" y="2826190"/>
                  </a:cubicBez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2105025" y="3686175"/>
            <a:ext cx="6886575" cy="2265045"/>
            <a:chOff x="0" y="0"/>
            <a:chExt cx="9182100" cy="302006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57150"/>
              <a:ext cx="9182100" cy="11493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rtl="true" marL="0" indent="0" lvl="0">
                <a:lnSpc>
                  <a:spcPts val="6480"/>
                </a:lnSpc>
              </a:pP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431925"/>
              <a:ext cx="9182100" cy="15881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rtl="true" marL="0" indent="0" lvl="0">
                <a:lnSpc>
                  <a:spcPts val="3120"/>
                </a:lnSpc>
              </a:pPr>
              <a:r>
                <a:rPr lang="ar-EG" sz="2400">
                  <a:solidFill>
                    <a:srgbClr val="F3E5B8"/>
                  </a:solidFill>
                  <a:latin typeface="Codec Pro"/>
                  <a:ea typeface="Codec Pro"/>
                  <a:cs typeface="Codec Pro"/>
                  <a:sym typeface="Codec Pro"/>
                  <a:rtl val="true"/>
                </a:rPr>
                <a:t>نضمن حماية البيانات من خلال تشفير كلمات المرور والتحكم الدقيق في وصول المستخدمين وبيانات محمية بالكامل.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0486143" y="2216792"/>
            <a:ext cx="5696832" cy="5911807"/>
          </a:xfrm>
          <a:custGeom>
            <a:avLst/>
            <a:gdLst/>
            <a:ahLst/>
            <a:cxnLst/>
            <a:rect r="r" b="b" t="t" l="l"/>
            <a:pathLst>
              <a:path h="5911807" w="5696832">
                <a:moveTo>
                  <a:pt x="5696832" y="0"/>
                </a:moveTo>
                <a:lnTo>
                  <a:pt x="0" y="0"/>
                </a:lnTo>
                <a:lnTo>
                  <a:pt x="0" y="5911807"/>
                </a:lnTo>
                <a:lnTo>
                  <a:pt x="5696832" y="5911807"/>
                </a:lnTo>
                <a:lnTo>
                  <a:pt x="569683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0546645" y="2306609"/>
            <a:ext cx="4485772" cy="4485772"/>
          </a:xfrm>
          <a:custGeom>
            <a:avLst/>
            <a:gdLst/>
            <a:ahLst/>
            <a:cxnLst/>
            <a:rect r="r" b="b" t="t" l="l"/>
            <a:pathLst>
              <a:path h="4485772" w="4485772">
                <a:moveTo>
                  <a:pt x="0" y="0"/>
                </a:moveTo>
                <a:lnTo>
                  <a:pt x="4485772" y="0"/>
                </a:lnTo>
                <a:lnTo>
                  <a:pt x="4485772" y="4485772"/>
                </a:lnTo>
                <a:lnTo>
                  <a:pt x="0" y="44857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528440" y="2701290"/>
            <a:ext cx="7615560" cy="1836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 marL="0" indent="0" lvl="0">
              <a:lnSpc>
                <a:spcPts val="7019"/>
              </a:lnSpc>
            </a:pPr>
            <a:r>
              <a:rPr lang="ar-EG" b="true" sz="5399">
                <a:solidFill>
                  <a:srgbClr val="F3E5B8"/>
                </a:solidFill>
                <a:latin typeface="Codec Pro Bold"/>
                <a:ea typeface="Codec Pro Bold"/>
                <a:cs typeface="Codec Pro Bold"/>
                <a:sym typeface="Codec Pro Bold"/>
                <a:rtl val="true"/>
              </a:rPr>
              <a:t>تدابير الأمان لحماية بيانات الطلاب والموظفين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6954500" cy="8953500"/>
            <a:chOff x="0" y="0"/>
            <a:chExt cx="5734099" cy="3028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52070" y="12700"/>
              <a:ext cx="5669329" cy="2959540"/>
            </a:xfrm>
            <a:custGeom>
              <a:avLst/>
              <a:gdLst/>
              <a:ahLst/>
              <a:cxnLst/>
              <a:rect r="r" b="b" t="t" l="l"/>
              <a:pathLst>
                <a:path h="2959540" w="5669329">
                  <a:moveTo>
                    <a:pt x="5523279" y="2959540"/>
                  </a:moveTo>
                  <a:lnTo>
                    <a:pt x="164850" y="2959540"/>
                  </a:lnTo>
                  <a:cubicBezTo>
                    <a:pt x="66040" y="2959540"/>
                    <a:pt x="0" y="2893500"/>
                    <a:pt x="0" y="2813490"/>
                  </a:cubicBezTo>
                  <a:lnTo>
                    <a:pt x="0" y="146050"/>
                  </a:lnTo>
                  <a:cubicBezTo>
                    <a:pt x="0" y="66040"/>
                    <a:pt x="66040" y="0"/>
                    <a:pt x="164850" y="0"/>
                  </a:cubicBezTo>
                  <a:lnTo>
                    <a:pt x="5523279" y="0"/>
                  </a:lnTo>
                  <a:cubicBezTo>
                    <a:pt x="5603289" y="0"/>
                    <a:pt x="5669329" y="66040"/>
                    <a:pt x="5669329" y="146050"/>
                  </a:cubicBezTo>
                  <a:lnTo>
                    <a:pt x="5669329" y="2813490"/>
                  </a:lnTo>
                  <a:cubicBezTo>
                    <a:pt x="5669329" y="2894770"/>
                    <a:pt x="5603289" y="2959540"/>
                    <a:pt x="5523279" y="2959540"/>
                  </a:cubicBezTo>
                  <a:close/>
                </a:path>
              </a:pathLst>
            </a:custGeom>
            <a:solidFill>
              <a:srgbClr val="021633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734099" cy="3028120"/>
            </a:xfrm>
            <a:custGeom>
              <a:avLst/>
              <a:gdLst/>
              <a:ahLst/>
              <a:cxnLst/>
              <a:rect r="r" b="b" t="t" l="l"/>
              <a:pathLst>
                <a:path h="3028120" w="5734099">
                  <a:moveTo>
                    <a:pt x="63500" y="74930"/>
                  </a:moveTo>
                  <a:cubicBezTo>
                    <a:pt x="91440" y="30480"/>
                    <a:pt x="140970" y="0"/>
                    <a:pt x="216920" y="0"/>
                  </a:cubicBezTo>
                  <a:lnTo>
                    <a:pt x="5575349" y="0"/>
                  </a:lnTo>
                  <a:cubicBezTo>
                    <a:pt x="5662979" y="0"/>
                    <a:pt x="5734099" y="71120"/>
                    <a:pt x="5734099" y="158750"/>
                  </a:cubicBezTo>
                  <a:lnTo>
                    <a:pt x="5734099" y="2826190"/>
                  </a:lnTo>
                  <a:cubicBezTo>
                    <a:pt x="5734099" y="2878260"/>
                    <a:pt x="5708699" y="2923980"/>
                    <a:pt x="5670599" y="2953190"/>
                  </a:cubicBezTo>
                  <a:cubicBezTo>
                    <a:pt x="5642659" y="2997640"/>
                    <a:pt x="5593129" y="3028120"/>
                    <a:pt x="5535979" y="3028120"/>
                  </a:cubicBezTo>
                  <a:lnTo>
                    <a:pt x="158750" y="3028120"/>
                  </a:lnTo>
                  <a:cubicBezTo>
                    <a:pt x="71120" y="3028120"/>
                    <a:pt x="0" y="2957000"/>
                    <a:pt x="0" y="2869370"/>
                  </a:cubicBezTo>
                  <a:lnTo>
                    <a:pt x="0" y="208926"/>
                  </a:lnTo>
                  <a:cubicBezTo>
                    <a:pt x="0" y="149860"/>
                    <a:pt x="25400" y="104140"/>
                    <a:pt x="63500" y="74930"/>
                  </a:cubicBezTo>
                  <a:close/>
                  <a:moveTo>
                    <a:pt x="5721399" y="2826190"/>
                  </a:moveTo>
                  <a:lnTo>
                    <a:pt x="5721399" y="158750"/>
                  </a:lnTo>
                  <a:cubicBezTo>
                    <a:pt x="5721399" y="78740"/>
                    <a:pt x="5655359" y="12700"/>
                    <a:pt x="5575349" y="12700"/>
                  </a:cubicBezTo>
                  <a:lnTo>
                    <a:pt x="216920" y="12700"/>
                  </a:lnTo>
                  <a:cubicBezTo>
                    <a:pt x="118110" y="12700"/>
                    <a:pt x="52070" y="78740"/>
                    <a:pt x="52070" y="158750"/>
                  </a:cubicBezTo>
                  <a:lnTo>
                    <a:pt x="52070" y="2826190"/>
                  </a:lnTo>
                  <a:cubicBezTo>
                    <a:pt x="52070" y="2906200"/>
                    <a:pt x="118110" y="2972240"/>
                    <a:pt x="216920" y="2972240"/>
                  </a:cubicBezTo>
                  <a:lnTo>
                    <a:pt x="5575349" y="2972240"/>
                  </a:lnTo>
                  <a:cubicBezTo>
                    <a:pt x="5655359" y="2972240"/>
                    <a:pt x="5721399" y="2907470"/>
                    <a:pt x="5721399" y="2826190"/>
                  </a:cubicBezTo>
                  <a:close/>
                </a:path>
              </a:pathLst>
            </a:custGeom>
            <a:solidFill>
              <a:srgbClr val="C9A84C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2105025" y="4938713"/>
            <a:ext cx="6886575" cy="817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 marL="0" indent="0" lvl="0">
              <a:lnSpc>
                <a:spcPts val="3120"/>
              </a:lnSpc>
            </a:pPr>
            <a:r>
              <a:rPr lang="ar-EG" sz="2400">
                <a:solidFill>
                  <a:srgbClr val="F3E5B8"/>
                </a:solidFill>
                <a:latin typeface="Codec Pro"/>
                <a:ea typeface="Codec Pro"/>
                <a:cs typeface="Codec Pro"/>
                <a:sym typeface="Codec Pro"/>
                <a:rtl val="true"/>
              </a:rPr>
              <a:t>أكثر من </a:t>
            </a:r>
            <a:r>
              <a:rPr lang="en-US" sz="2400">
                <a:solidFill>
                  <a:srgbClr val="F3E5B8"/>
                </a:solidFill>
                <a:latin typeface="Codec Pro"/>
                <a:ea typeface="Codec Pro"/>
                <a:cs typeface="Codec Pro"/>
                <a:sym typeface="Codec Pro"/>
              </a:rPr>
              <a:t>920</a:t>
            </a:r>
            <a:r>
              <a:rPr lang="ar-EG" sz="2400">
                <a:solidFill>
                  <a:srgbClr val="F3E5B8"/>
                </a:solidFill>
                <a:latin typeface="Codec Pro"/>
                <a:ea typeface="Codec Pro"/>
                <a:cs typeface="Codec Pro"/>
                <a:sym typeface="Codec Pro"/>
                <a:rtl val="true"/>
              </a:rPr>
              <a:t> طالب وطالبة، بمتوسط درجات </a:t>
            </a:r>
            <a:r>
              <a:rPr lang="en-US" sz="2400">
                <a:solidFill>
                  <a:srgbClr val="F3E5B8"/>
                </a:solidFill>
                <a:latin typeface="Codec Pro"/>
                <a:ea typeface="Codec Pro"/>
                <a:cs typeface="Codec Pro"/>
                <a:sym typeface="Codec Pro"/>
              </a:rPr>
              <a:t>83.9</a:t>
            </a:r>
            <a:r>
              <a:rPr lang="ar-EG" sz="2400">
                <a:solidFill>
                  <a:srgbClr val="F3E5B8"/>
                </a:solidFill>
                <a:latin typeface="Codec Pro"/>
                <a:ea typeface="Codec Pro"/>
                <a:cs typeface="Codec Pro"/>
                <a:sym typeface="Codec Pro"/>
                <a:rtl val="true"/>
              </a:rPr>
              <a:t>%، ونسبة نجاح </a:t>
            </a:r>
            <a:r>
              <a:rPr lang="en-US" sz="2400">
                <a:solidFill>
                  <a:srgbClr val="F3E5B8"/>
                </a:solidFill>
                <a:latin typeface="Codec Pro"/>
                <a:ea typeface="Codec Pro"/>
                <a:cs typeface="Codec Pro"/>
                <a:sym typeface="Codec Pro"/>
              </a:rPr>
              <a:t>100</a:t>
            </a:r>
            <a:r>
              <a:rPr lang="ar-EG" sz="2400">
                <a:solidFill>
                  <a:srgbClr val="F3E5B8"/>
                </a:solidFill>
                <a:latin typeface="Codec Pro"/>
                <a:ea typeface="Codec Pro"/>
                <a:cs typeface="Codec Pro"/>
                <a:sym typeface="Codec Pro"/>
                <a:rtl val="true"/>
              </a:rPr>
              <a:t>% في الفصل الدراسي الثاني.</a:t>
            </a:r>
          </a:p>
        </p:txBody>
      </p:sp>
      <p:sp>
        <p:nvSpPr>
          <p:cNvPr name="Freeform 6" id="6"/>
          <p:cNvSpPr/>
          <p:nvPr/>
        </p:nvSpPr>
        <p:spPr>
          <a:xfrm flipH="true" flipV="false" rot="0">
            <a:off x="10486143" y="2216792"/>
            <a:ext cx="5696832" cy="5911807"/>
          </a:xfrm>
          <a:custGeom>
            <a:avLst/>
            <a:gdLst/>
            <a:ahLst/>
            <a:cxnLst/>
            <a:rect r="r" b="b" t="t" l="l"/>
            <a:pathLst>
              <a:path h="5911807" w="5696832">
                <a:moveTo>
                  <a:pt x="5696832" y="0"/>
                </a:moveTo>
                <a:lnTo>
                  <a:pt x="0" y="0"/>
                </a:lnTo>
                <a:lnTo>
                  <a:pt x="0" y="5911807"/>
                </a:lnTo>
                <a:lnTo>
                  <a:pt x="5696832" y="5911807"/>
                </a:lnTo>
                <a:lnTo>
                  <a:pt x="569683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0546645" y="2306609"/>
            <a:ext cx="4485772" cy="4485772"/>
          </a:xfrm>
          <a:custGeom>
            <a:avLst/>
            <a:gdLst/>
            <a:ahLst/>
            <a:cxnLst/>
            <a:rect r="r" b="b" t="t" l="l"/>
            <a:pathLst>
              <a:path h="4485772" w="4485772">
                <a:moveTo>
                  <a:pt x="0" y="0"/>
                </a:moveTo>
                <a:lnTo>
                  <a:pt x="4485772" y="0"/>
                </a:lnTo>
                <a:lnTo>
                  <a:pt x="4485772" y="4485772"/>
                </a:lnTo>
                <a:lnTo>
                  <a:pt x="0" y="44857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740532" y="2713074"/>
            <a:ext cx="7615560" cy="1836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 marL="0" indent="0" lvl="0">
              <a:lnSpc>
                <a:spcPts val="7019"/>
              </a:lnSpc>
            </a:pPr>
            <a:r>
              <a:rPr lang="ar-EG" b="true" sz="5399">
                <a:solidFill>
                  <a:srgbClr val="F3E5B8"/>
                </a:solidFill>
                <a:latin typeface="Codec Pro Bold"/>
                <a:ea typeface="Codec Pro Bold"/>
                <a:cs typeface="Codec Pro Bold"/>
                <a:sym typeface="Codec Pro Bold"/>
                <a:rtl val="true"/>
              </a:rPr>
              <a:t>النتائج المحققة من بوابة الجود الرقمية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6954500" cy="8953500"/>
            <a:chOff x="0" y="0"/>
            <a:chExt cx="5734099" cy="3028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52070" y="12700"/>
              <a:ext cx="5669329" cy="2959540"/>
            </a:xfrm>
            <a:custGeom>
              <a:avLst/>
              <a:gdLst/>
              <a:ahLst/>
              <a:cxnLst/>
              <a:rect r="r" b="b" t="t" l="l"/>
              <a:pathLst>
                <a:path h="2959540" w="5669329">
                  <a:moveTo>
                    <a:pt x="5523279" y="2959540"/>
                  </a:moveTo>
                  <a:lnTo>
                    <a:pt x="164850" y="2959540"/>
                  </a:lnTo>
                  <a:cubicBezTo>
                    <a:pt x="66040" y="2959540"/>
                    <a:pt x="0" y="2893500"/>
                    <a:pt x="0" y="2813490"/>
                  </a:cubicBezTo>
                  <a:lnTo>
                    <a:pt x="0" y="146050"/>
                  </a:lnTo>
                  <a:cubicBezTo>
                    <a:pt x="0" y="66040"/>
                    <a:pt x="66040" y="0"/>
                    <a:pt x="164850" y="0"/>
                  </a:cubicBezTo>
                  <a:lnTo>
                    <a:pt x="5523279" y="0"/>
                  </a:lnTo>
                  <a:cubicBezTo>
                    <a:pt x="5603289" y="0"/>
                    <a:pt x="5669329" y="66040"/>
                    <a:pt x="5669329" y="146050"/>
                  </a:cubicBezTo>
                  <a:lnTo>
                    <a:pt x="5669329" y="2813490"/>
                  </a:lnTo>
                  <a:cubicBezTo>
                    <a:pt x="5669329" y="2894770"/>
                    <a:pt x="5603289" y="2959540"/>
                    <a:pt x="5523279" y="2959540"/>
                  </a:cubicBezTo>
                  <a:close/>
                </a:path>
              </a:pathLst>
            </a:custGeom>
            <a:solidFill>
              <a:srgbClr val="021633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734099" cy="3028120"/>
            </a:xfrm>
            <a:custGeom>
              <a:avLst/>
              <a:gdLst/>
              <a:ahLst/>
              <a:cxnLst/>
              <a:rect r="r" b="b" t="t" l="l"/>
              <a:pathLst>
                <a:path h="3028120" w="5734099">
                  <a:moveTo>
                    <a:pt x="63500" y="74930"/>
                  </a:moveTo>
                  <a:cubicBezTo>
                    <a:pt x="91440" y="30480"/>
                    <a:pt x="140970" y="0"/>
                    <a:pt x="216920" y="0"/>
                  </a:cubicBezTo>
                  <a:lnTo>
                    <a:pt x="5575349" y="0"/>
                  </a:lnTo>
                  <a:cubicBezTo>
                    <a:pt x="5662979" y="0"/>
                    <a:pt x="5734099" y="71120"/>
                    <a:pt x="5734099" y="158750"/>
                  </a:cubicBezTo>
                  <a:lnTo>
                    <a:pt x="5734099" y="2826190"/>
                  </a:lnTo>
                  <a:cubicBezTo>
                    <a:pt x="5734099" y="2878260"/>
                    <a:pt x="5708699" y="2923980"/>
                    <a:pt x="5670599" y="2953190"/>
                  </a:cubicBezTo>
                  <a:cubicBezTo>
                    <a:pt x="5642659" y="2997640"/>
                    <a:pt x="5593129" y="3028120"/>
                    <a:pt x="5535979" y="3028120"/>
                  </a:cubicBezTo>
                  <a:lnTo>
                    <a:pt x="158750" y="3028120"/>
                  </a:lnTo>
                  <a:cubicBezTo>
                    <a:pt x="71120" y="3028120"/>
                    <a:pt x="0" y="2957000"/>
                    <a:pt x="0" y="2869370"/>
                  </a:cubicBezTo>
                  <a:lnTo>
                    <a:pt x="0" y="208926"/>
                  </a:lnTo>
                  <a:cubicBezTo>
                    <a:pt x="0" y="149860"/>
                    <a:pt x="25400" y="104140"/>
                    <a:pt x="63500" y="74930"/>
                  </a:cubicBezTo>
                  <a:close/>
                  <a:moveTo>
                    <a:pt x="5721399" y="2826190"/>
                  </a:moveTo>
                  <a:lnTo>
                    <a:pt x="5721399" y="158750"/>
                  </a:lnTo>
                  <a:cubicBezTo>
                    <a:pt x="5721399" y="78740"/>
                    <a:pt x="5655359" y="12700"/>
                    <a:pt x="5575349" y="12700"/>
                  </a:cubicBezTo>
                  <a:lnTo>
                    <a:pt x="216920" y="12700"/>
                  </a:lnTo>
                  <a:cubicBezTo>
                    <a:pt x="118110" y="12700"/>
                    <a:pt x="52070" y="78740"/>
                    <a:pt x="52070" y="158750"/>
                  </a:cubicBezTo>
                  <a:lnTo>
                    <a:pt x="52070" y="2826190"/>
                  </a:lnTo>
                  <a:cubicBezTo>
                    <a:pt x="52070" y="2906200"/>
                    <a:pt x="118110" y="2972240"/>
                    <a:pt x="216920" y="2972240"/>
                  </a:cubicBezTo>
                  <a:lnTo>
                    <a:pt x="5575349" y="2972240"/>
                  </a:lnTo>
                  <a:cubicBezTo>
                    <a:pt x="5655359" y="2972240"/>
                    <a:pt x="5721399" y="2907470"/>
                    <a:pt x="5721399" y="2826190"/>
                  </a:cubicBez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868150" y="3352800"/>
            <a:ext cx="4619625" cy="3231344"/>
            <a:chOff x="0" y="0"/>
            <a:chExt cx="650279" cy="4548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50279" cy="454859"/>
            </a:xfrm>
            <a:custGeom>
              <a:avLst/>
              <a:gdLst/>
              <a:ahLst/>
              <a:cxnLst/>
              <a:rect r="r" b="b" t="t" l="l"/>
              <a:pathLst>
                <a:path h="454859" w="650279">
                  <a:moveTo>
                    <a:pt x="566485" y="0"/>
                  </a:moveTo>
                  <a:lnTo>
                    <a:pt x="83794" y="0"/>
                  </a:lnTo>
                  <a:cubicBezTo>
                    <a:pt x="61570" y="0"/>
                    <a:pt x="40257" y="8828"/>
                    <a:pt x="24543" y="24543"/>
                  </a:cubicBezTo>
                  <a:cubicBezTo>
                    <a:pt x="8828" y="40257"/>
                    <a:pt x="0" y="61570"/>
                    <a:pt x="0" y="83794"/>
                  </a:cubicBezTo>
                  <a:lnTo>
                    <a:pt x="0" y="371065"/>
                  </a:lnTo>
                  <a:cubicBezTo>
                    <a:pt x="0" y="393288"/>
                    <a:pt x="8828" y="414602"/>
                    <a:pt x="24543" y="430316"/>
                  </a:cubicBezTo>
                  <a:cubicBezTo>
                    <a:pt x="40257" y="446030"/>
                    <a:pt x="61570" y="454859"/>
                    <a:pt x="83794" y="454859"/>
                  </a:cubicBezTo>
                  <a:lnTo>
                    <a:pt x="566485" y="454859"/>
                  </a:lnTo>
                  <a:cubicBezTo>
                    <a:pt x="588709" y="454859"/>
                    <a:pt x="610022" y="446030"/>
                    <a:pt x="625737" y="430316"/>
                  </a:cubicBezTo>
                  <a:cubicBezTo>
                    <a:pt x="641451" y="414602"/>
                    <a:pt x="650279" y="393288"/>
                    <a:pt x="650279" y="371065"/>
                  </a:cubicBezTo>
                  <a:lnTo>
                    <a:pt x="650279" y="83794"/>
                  </a:lnTo>
                  <a:cubicBezTo>
                    <a:pt x="650279" y="61570"/>
                    <a:pt x="641451" y="40257"/>
                    <a:pt x="625737" y="24543"/>
                  </a:cubicBezTo>
                  <a:cubicBezTo>
                    <a:pt x="610022" y="8828"/>
                    <a:pt x="588709" y="0"/>
                    <a:pt x="566485" y="0"/>
                  </a:cubicBezTo>
                  <a:close/>
                </a:path>
              </a:pathLst>
            </a:custGeom>
            <a:blipFill>
              <a:blip r:embed="rId2"/>
              <a:stretch>
                <a:fillRect l="-232" t="0" r="-232" b="0"/>
              </a:stretch>
            </a:blipFill>
            <a:ln w="38100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6834188" y="3352800"/>
            <a:ext cx="4619625" cy="3231344"/>
            <a:chOff x="0" y="0"/>
            <a:chExt cx="650279" cy="45485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50279" cy="454859"/>
            </a:xfrm>
            <a:custGeom>
              <a:avLst/>
              <a:gdLst/>
              <a:ahLst/>
              <a:cxnLst/>
              <a:rect r="r" b="b" t="t" l="l"/>
              <a:pathLst>
                <a:path h="454859" w="650279">
                  <a:moveTo>
                    <a:pt x="566485" y="0"/>
                  </a:moveTo>
                  <a:lnTo>
                    <a:pt x="83794" y="0"/>
                  </a:lnTo>
                  <a:cubicBezTo>
                    <a:pt x="61570" y="0"/>
                    <a:pt x="40257" y="8828"/>
                    <a:pt x="24543" y="24543"/>
                  </a:cubicBezTo>
                  <a:cubicBezTo>
                    <a:pt x="8828" y="40257"/>
                    <a:pt x="0" y="61570"/>
                    <a:pt x="0" y="83794"/>
                  </a:cubicBezTo>
                  <a:lnTo>
                    <a:pt x="0" y="371065"/>
                  </a:lnTo>
                  <a:cubicBezTo>
                    <a:pt x="0" y="393288"/>
                    <a:pt x="8828" y="414602"/>
                    <a:pt x="24543" y="430316"/>
                  </a:cubicBezTo>
                  <a:cubicBezTo>
                    <a:pt x="40257" y="446030"/>
                    <a:pt x="61570" y="454859"/>
                    <a:pt x="83794" y="454859"/>
                  </a:cubicBezTo>
                  <a:lnTo>
                    <a:pt x="566485" y="454859"/>
                  </a:lnTo>
                  <a:cubicBezTo>
                    <a:pt x="588709" y="454859"/>
                    <a:pt x="610022" y="446030"/>
                    <a:pt x="625737" y="430316"/>
                  </a:cubicBezTo>
                  <a:cubicBezTo>
                    <a:pt x="641451" y="414602"/>
                    <a:pt x="650279" y="393288"/>
                    <a:pt x="650279" y="371065"/>
                  </a:cubicBezTo>
                  <a:lnTo>
                    <a:pt x="650279" y="83794"/>
                  </a:lnTo>
                  <a:cubicBezTo>
                    <a:pt x="650279" y="61570"/>
                    <a:pt x="641451" y="40257"/>
                    <a:pt x="625737" y="24543"/>
                  </a:cubicBezTo>
                  <a:cubicBezTo>
                    <a:pt x="610022" y="8828"/>
                    <a:pt x="588709" y="0"/>
                    <a:pt x="566485" y="0"/>
                  </a:cubicBezTo>
                  <a:close/>
                </a:path>
              </a:pathLst>
            </a:custGeom>
            <a:blipFill>
              <a:blip r:embed="rId3"/>
              <a:stretch>
                <a:fillRect l="-232" t="0" r="-232" b="0"/>
              </a:stretch>
            </a:blipFill>
            <a:ln w="38100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799437" y="3352800"/>
            <a:ext cx="4623063" cy="3231344"/>
            <a:chOff x="0" y="0"/>
            <a:chExt cx="650763" cy="45485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50763" cy="454859"/>
            </a:xfrm>
            <a:custGeom>
              <a:avLst/>
              <a:gdLst/>
              <a:ahLst/>
              <a:cxnLst/>
              <a:rect r="r" b="b" t="t" l="l"/>
              <a:pathLst>
                <a:path h="454859" w="650763">
                  <a:moveTo>
                    <a:pt x="567032" y="0"/>
                  </a:moveTo>
                  <a:lnTo>
                    <a:pt x="83732" y="0"/>
                  </a:lnTo>
                  <a:cubicBezTo>
                    <a:pt x="61525" y="0"/>
                    <a:pt x="40227" y="8822"/>
                    <a:pt x="24524" y="24524"/>
                  </a:cubicBezTo>
                  <a:cubicBezTo>
                    <a:pt x="8822" y="40227"/>
                    <a:pt x="0" y="61525"/>
                    <a:pt x="0" y="83732"/>
                  </a:cubicBezTo>
                  <a:lnTo>
                    <a:pt x="0" y="371127"/>
                  </a:lnTo>
                  <a:cubicBezTo>
                    <a:pt x="0" y="393334"/>
                    <a:pt x="8822" y="414631"/>
                    <a:pt x="24524" y="430334"/>
                  </a:cubicBezTo>
                  <a:cubicBezTo>
                    <a:pt x="40227" y="446037"/>
                    <a:pt x="61525" y="454859"/>
                    <a:pt x="83732" y="454859"/>
                  </a:cubicBezTo>
                  <a:lnTo>
                    <a:pt x="567032" y="454859"/>
                  </a:lnTo>
                  <a:cubicBezTo>
                    <a:pt x="589239" y="454859"/>
                    <a:pt x="610536" y="446037"/>
                    <a:pt x="626239" y="430334"/>
                  </a:cubicBezTo>
                  <a:cubicBezTo>
                    <a:pt x="641941" y="414631"/>
                    <a:pt x="650763" y="393334"/>
                    <a:pt x="650763" y="371127"/>
                  </a:cubicBezTo>
                  <a:lnTo>
                    <a:pt x="650763" y="83732"/>
                  </a:lnTo>
                  <a:cubicBezTo>
                    <a:pt x="650763" y="61525"/>
                    <a:pt x="641941" y="40227"/>
                    <a:pt x="626239" y="24524"/>
                  </a:cubicBezTo>
                  <a:cubicBezTo>
                    <a:pt x="610536" y="8822"/>
                    <a:pt x="589239" y="0"/>
                    <a:pt x="567032" y="0"/>
                  </a:cubicBezTo>
                  <a:close/>
                </a:path>
              </a:pathLst>
            </a:custGeom>
            <a:blipFill>
              <a:blip r:embed="rId4"/>
              <a:stretch>
                <a:fillRect l="-194" t="0" r="-194" b="0"/>
              </a:stretch>
            </a:blipFill>
            <a:ln w="38100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1868150" y="6934200"/>
            <a:ext cx="4619625" cy="1577340"/>
            <a:chOff x="0" y="0"/>
            <a:chExt cx="6159500" cy="210312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514985"/>
              <a:ext cx="6159500" cy="15881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rtl="true" marL="0" indent="0" lvl="0">
                <a:lnSpc>
                  <a:spcPts val="3120"/>
                </a:lnSpc>
              </a:pPr>
              <a:r>
                <a:rPr lang="en-US" sz="2400">
                  <a:solidFill>
                    <a:srgbClr val="F3E5B8"/>
                  </a:solidFill>
                  <a:latin typeface="Codec Pro"/>
                  <a:ea typeface="Codec Pro"/>
                  <a:cs typeface="Codec Pro"/>
                  <a:sym typeface="Codec Pro"/>
                </a:rPr>
                <a:t>Showcases student achievements and milestones effectively</a:t>
              </a:r>
              <a:r>
                <a:rPr lang="ar-EG" sz="2400">
                  <a:solidFill>
                    <a:srgbClr val="F3E5B8"/>
                  </a:solidFill>
                  <a:latin typeface="Codec Pro"/>
                  <a:ea typeface="Codec Pro"/>
                  <a:cs typeface="Codec Pro"/>
                  <a:sym typeface="Codec Pro"/>
                  <a:rtl val="true"/>
                </a:rPr>
                <a:t>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66675"/>
              <a:ext cx="6159500" cy="5467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rtl="true" marL="0" indent="0" lvl="0">
                <a:lnSpc>
                  <a:spcPts val="3120"/>
                </a:lnSpc>
              </a:pPr>
              <a:r>
                <a:rPr lang="ar-EG" b="true" sz="2400">
                  <a:solidFill>
                    <a:srgbClr val="F3E5B8"/>
                  </a:solidFill>
                  <a:latin typeface="Codec Pro Bold"/>
                  <a:ea typeface="Codec Pro Bold"/>
                  <a:cs typeface="Codec Pro Bold"/>
                  <a:sym typeface="Codec Pro Bold"/>
                  <a:rtl val="true"/>
                </a:rPr>
                <a:t>إنجازات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974559" y="6934200"/>
            <a:ext cx="4479254" cy="1186815"/>
            <a:chOff x="0" y="0"/>
            <a:chExt cx="5972338" cy="1582420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514985"/>
              <a:ext cx="5972338" cy="10674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rtl="true" marL="0" indent="0" lvl="0">
                <a:lnSpc>
                  <a:spcPts val="3120"/>
                </a:lnSpc>
              </a:pPr>
              <a:r>
                <a:rPr lang="en-US" sz="2400">
                  <a:solidFill>
                    <a:srgbClr val="F3E5B8"/>
                  </a:solidFill>
                  <a:latin typeface="Codec Pro"/>
                  <a:ea typeface="Codec Pro"/>
                  <a:cs typeface="Codec Pro"/>
                  <a:sym typeface="Codec Pro"/>
                </a:rPr>
                <a:t>Lists upcoming school events and activities clearly</a:t>
              </a:r>
              <a:r>
                <a:rPr lang="ar-EG" sz="2400">
                  <a:solidFill>
                    <a:srgbClr val="F3E5B8"/>
                  </a:solidFill>
                  <a:latin typeface="Codec Pro"/>
                  <a:ea typeface="Codec Pro"/>
                  <a:cs typeface="Codec Pro"/>
                  <a:sym typeface="Codec Pro"/>
                  <a:rtl val="true"/>
                </a:rPr>
                <a:t>.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-66675"/>
              <a:ext cx="5972338" cy="5467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rtl="true" marL="0" indent="0" lvl="0">
                <a:lnSpc>
                  <a:spcPts val="3120"/>
                </a:lnSpc>
              </a:pPr>
              <a:r>
                <a:rPr lang="ar-EG" b="true" sz="2400">
                  <a:solidFill>
                    <a:srgbClr val="F3E5B8"/>
                  </a:solidFill>
                  <a:latin typeface="Codec Pro Bold"/>
                  <a:ea typeface="Codec Pro Bold"/>
                  <a:cs typeface="Codec Pro Bold"/>
                  <a:sym typeface="Codec Pro Bold"/>
                  <a:rtl val="true"/>
                </a:rPr>
                <a:t>فعاليات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99437" y="6934200"/>
            <a:ext cx="4620413" cy="1186815"/>
            <a:chOff x="0" y="0"/>
            <a:chExt cx="6160551" cy="1582420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514985"/>
              <a:ext cx="6160551" cy="10674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rtl="true" marL="0" indent="0" lvl="0">
                <a:lnSpc>
                  <a:spcPts val="3120"/>
                </a:lnSpc>
              </a:pPr>
              <a:r>
                <a:rPr lang="en-US" sz="2400">
                  <a:solidFill>
                    <a:srgbClr val="F3E5B8"/>
                  </a:solidFill>
                  <a:latin typeface="Codec Pro"/>
                  <a:ea typeface="Codec Pro"/>
                  <a:cs typeface="Codec Pro"/>
                  <a:sym typeface="Codec Pro"/>
                </a:rPr>
                <a:t>Facilitates smart digital forms for efficient submissions</a:t>
              </a:r>
              <a:r>
                <a:rPr lang="ar-EG" sz="2400">
                  <a:solidFill>
                    <a:srgbClr val="F3E5B8"/>
                  </a:solidFill>
                  <a:latin typeface="Codec Pro"/>
                  <a:ea typeface="Codec Pro"/>
                  <a:cs typeface="Codec Pro"/>
                  <a:sym typeface="Codec Pro"/>
                  <a:rtl val="true"/>
                </a:rPr>
                <a:t>.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-66675"/>
              <a:ext cx="6160551" cy="5467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rtl="true" marL="0" indent="0" lvl="0">
                <a:lnSpc>
                  <a:spcPts val="3120"/>
                </a:lnSpc>
              </a:pPr>
              <a:r>
                <a:rPr lang="ar-EG" b="true" sz="2400">
                  <a:solidFill>
                    <a:srgbClr val="F3E5B8"/>
                  </a:solidFill>
                  <a:latin typeface="Codec Pro Bold"/>
                  <a:ea typeface="Codec Pro Bold"/>
                  <a:cs typeface="Codec Pro Bold"/>
                  <a:sym typeface="Codec Pro Bold"/>
                  <a:rtl val="true"/>
                </a:rPr>
                <a:t>نماذج رقمية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2049371" y="1673422"/>
            <a:ext cx="14189259" cy="950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 marL="0" indent="0" lvl="0">
              <a:lnSpc>
                <a:spcPts val="7019"/>
              </a:lnSpc>
            </a:pPr>
            <a:r>
              <a:rPr lang="ar-EG" b="true" sz="5399">
                <a:solidFill>
                  <a:srgbClr val="C9A84C"/>
                </a:solidFill>
                <a:latin typeface="Codec Pro Bold"/>
                <a:ea typeface="Codec Pro Bold"/>
                <a:cs typeface="Codec Pro Bold"/>
                <a:sym typeface="Codec Pro Bold"/>
                <a:rtl val="true"/>
              </a:rPr>
              <a:t>مميزات إضافية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6954500" cy="8953500"/>
            <a:chOff x="0" y="0"/>
            <a:chExt cx="5734099" cy="3028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52070" y="12700"/>
              <a:ext cx="5669329" cy="2959540"/>
            </a:xfrm>
            <a:custGeom>
              <a:avLst/>
              <a:gdLst/>
              <a:ahLst/>
              <a:cxnLst/>
              <a:rect r="r" b="b" t="t" l="l"/>
              <a:pathLst>
                <a:path h="2959540" w="5669329">
                  <a:moveTo>
                    <a:pt x="5523279" y="2959540"/>
                  </a:moveTo>
                  <a:lnTo>
                    <a:pt x="164850" y="2959540"/>
                  </a:lnTo>
                  <a:cubicBezTo>
                    <a:pt x="66040" y="2959540"/>
                    <a:pt x="0" y="2893500"/>
                    <a:pt x="0" y="2813490"/>
                  </a:cubicBezTo>
                  <a:lnTo>
                    <a:pt x="0" y="146050"/>
                  </a:lnTo>
                  <a:cubicBezTo>
                    <a:pt x="0" y="66040"/>
                    <a:pt x="66040" y="0"/>
                    <a:pt x="164850" y="0"/>
                  </a:cubicBezTo>
                  <a:lnTo>
                    <a:pt x="5523279" y="0"/>
                  </a:lnTo>
                  <a:cubicBezTo>
                    <a:pt x="5603289" y="0"/>
                    <a:pt x="5669329" y="66040"/>
                    <a:pt x="5669329" y="146050"/>
                  </a:cubicBezTo>
                  <a:lnTo>
                    <a:pt x="5669329" y="2813490"/>
                  </a:lnTo>
                  <a:cubicBezTo>
                    <a:pt x="5669329" y="2894770"/>
                    <a:pt x="5603289" y="2959540"/>
                    <a:pt x="5523279" y="2959540"/>
                  </a:cubicBezTo>
                  <a:close/>
                </a:path>
              </a:pathLst>
            </a:custGeom>
            <a:solidFill>
              <a:srgbClr val="021633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734099" cy="3028120"/>
            </a:xfrm>
            <a:custGeom>
              <a:avLst/>
              <a:gdLst/>
              <a:ahLst/>
              <a:cxnLst/>
              <a:rect r="r" b="b" t="t" l="l"/>
              <a:pathLst>
                <a:path h="3028120" w="5734099">
                  <a:moveTo>
                    <a:pt x="63500" y="74930"/>
                  </a:moveTo>
                  <a:cubicBezTo>
                    <a:pt x="91440" y="30480"/>
                    <a:pt x="140970" y="0"/>
                    <a:pt x="216920" y="0"/>
                  </a:cubicBezTo>
                  <a:lnTo>
                    <a:pt x="5575349" y="0"/>
                  </a:lnTo>
                  <a:cubicBezTo>
                    <a:pt x="5662979" y="0"/>
                    <a:pt x="5734099" y="71120"/>
                    <a:pt x="5734099" y="158750"/>
                  </a:cubicBezTo>
                  <a:lnTo>
                    <a:pt x="5734099" y="2826190"/>
                  </a:lnTo>
                  <a:cubicBezTo>
                    <a:pt x="5734099" y="2878260"/>
                    <a:pt x="5708699" y="2923980"/>
                    <a:pt x="5670599" y="2953190"/>
                  </a:cubicBezTo>
                  <a:cubicBezTo>
                    <a:pt x="5642659" y="2997640"/>
                    <a:pt x="5593129" y="3028120"/>
                    <a:pt x="5535979" y="3028120"/>
                  </a:cubicBezTo>
                  <a:lnTo>
                    <a:pt x="158750" y="3028120"/>
                  </a:lnTo>
                  <a:cubicBezTo>
                    <a:pt x="71120" y="3028120"/>
                    <a:pt x="0" y="2957000"/>
                    <a:pt x="0" y="2869370"/>
                  </a:cubicBezTo>
                  <a:lnTo>
                    <a:pt x="0" y="208926"/>
                  </a:lnTo>
                  <a:cubicBezTo>
                    <a:pt x="0" y="149860"/>
                    <a:pt x="25400" y="104140"/>
                    <a:pt x="63500" y="74930"/>
                  </a:cubicBezTo>
                  <a:close/>
                  <a:moveTo>
                    <a:pt x="5721399" y="2826190"/>
                  </a:moveTo>
                  <a:lnTo>
                    <a:pt x="5721399" y="158750"/>
                  </a:lnTo>
                  <a:cubicBezTo>
                    <a:pt x="5721399" y="78740"/>
                    <a:pt x="5655359" y="12700"/>
                    <a:pt x="5575349" y="12700"/>
                  </a:cubicBezTo>
                  <a:lnTo>
                    <a:pt x="216920" y="12700"/>
                  </a:lnTo>
                  <a:cubicBezTo>
                    <a:pt x="118110" y="12700"/>
                    <a:pt x="52070" y="78740"/>
                    <a:pt x="52070" y="158750"/>
                  </a:cubicBezTo>
                  <a:lnTo>
                    <a:pt x="52070" y="2826190"/>
                  </a:lnTo>
                  <a:cubicBezTo>
                    <a:pt x="52070" y="2906200"/>
                    <a:pt x="118110" y="2972240"/>
                    <a:pt x="216920" y="2972240"/>
                  </a:cubicBezTo>
                  <a:lnTo>
                    <a:pt x="5575349" y="2972240"/>
                  </a:lnTo>
                  <a:cubicBezTo>
                    <a:pt x="5655359" y="2972240"/>
                    <a:pt x="5721399" y="2907470"/>
                    <a:pt x="5721399" y="2826190"/>
                  </a:cubicBezTo>
                  <a:close/>
                </a:path>
              </a:pathLst>
            </a:custGeom>
            <a:solidFill>
              <a:srgbClr val="C9A84C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2105025" y="4743450"/>
            <a:ext cx="6886575" cy="1207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 marL="0" indent="0" lvl="0">
              <a:lnSpc>
                <a:spcPts val="3120"/>
              </a:lnSpc>
            </a:pPr>
            <a:r>
              <a:rPr lang="ar-EG" sz="2400">
                <a:solidFill>
                  <a:srgbClr val="F3E5B8"/>
                </a:solidFill>
                <a:latin typeface="Codec Pro"/>
                <a:ea typeface="Codec Pro"/>
                <a:cs typeface="Codec Pro"/>
                <a:sym typeface="Codec Pro"/>
                <a:rtl val="true"/>
              </a:rPr>
              <a:t>ستتوسع بوابة الجود الرقمية على ثلاث مراحل، لتشمل ميزات جديدة لإشراك ولي الأمر وتعزيز تجربة التعليم.</a:t>
            </a:r>
          </a:p>
        </p:txBody>
      </p:sp>
      <p:sp>
        <p:nvSpPr>
          <p:cNvPr name="Freeform 6" id="6"/>
          <p:cNvSpPr/>
          <p:nvPr/>
        </p:nvSpPr>
        <p:spPr>
          <a:xfrm flipH="true" flipV="false" rot="0">
            <a:off x="10486143" y="2216792"/>
            <a:ext cx="5696832" cy="5911807"/>
          </a:xfrm>
          <a:custGeom>
            <a:avLst/>
            <a:gdLst/>
            <a:ahLst/>
            <a:cxnLst/>
            <a:rect r="r" b="b" t="t" l="l"/>
            <a:pathLst>
              <a:path h="5911807" w="5696832">
                <a:moveTo>
                  <a:pt x="5696832" y="0"/>
                </a:moveTo>
                <a:lnTo>
                  <a:pt x="0" y="0"/>
                </a:lnTo>
                <a:lnTo>
                  <a:pt x="0" y="5911807"/>
                </a:lnTo>
                <a:lnTo>
                  <a:pt x="5696832" y="5911807"/>
                </a:lnTo>
                <a:lnTo>
                  <a:pt x="569683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0546645" y="2306609"/>
            <a:ext cx="4485772" cy="4485772"/>
          </a:xfrm>
          <a:custGeom>
            <a:avLst/>
            <a:gdLst/>
            <a:ahLst/>
            <a:cxnLst/>
            <a:rect r="r" b="b" t="t" l="l"/>
            <a:pathLst>
              <a:path h="4485772" w="4485772">
                <a:moveTo>
                  <a:pt x="0" y="0"/>
                </a:moveTo>
                <a:lnTo>
                  <a:pt x="4485772" y="0"/>
                </a:lnTo>
                <a:lnTo>
                  <a:pt x="4485772" y="4485772"/>
                </a:lnTo>
                <a:lnTo>
                  <a:pt x="0" y="44857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740532" y="2713074"/>
            <a:ext cx="7615560" cy="1836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 marL="0" indent="0" lvl="0">
              <a:lnSpc>
                <a:spcPts val="7019"/>
              </a:lnSpc>
            </a:pPr>
            <a:r>
              <a:rPr lang="ar-EG" b="true" sz="5399">
                <a:solidFill>
                  <a:srgbClr val="F3E5B8"/>
                </a:solidFill>
                <a:latin typeface="Codec Pro Bold"/>
                <a:ea typeface="Codec Pro Bold"/>
                <a:cs typeface="Codec Pro Bold"/>
                <a:sym typeface="Codec Pro Bold"/>
                <a:rtl val="true"/>
              </a:rPr>
              <a:t>خارطة الطريق لتوسيع بوابة الجود الرقمية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6954500" cy="8953500"/>
            <a:chOff x="0" y="0"/>
            <a:chExt cx="5734099" cy="3028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52070" y="12700"/>
              <a:ext cx="5669329" cy="2959540"/>
            </a:xfrm>
            <a:custGeom>
              <a:avLst/>
              <a:gdLst/>
              <a:ahLst/>
              <a:cxnLst/>
              <a:rect r="r" b="b" t="t" l="l"/>
              <a:pathLst>
                <a:path h="2959540" w="5669329">
                  <a:moveTo>
                    <a:pt x="5523279" y="2959540"/>
                  </a:moveTo>
                  <a:lnTo>
                    <a:pt x="164850" y="2959540"/>
                  </a:lnTo>
                  <a:cubicBezTo>
                    <a:pt x="66040" y="2959540"/>
                    <a:pt x="0" y="2893500"/>
                    <a:pt x="0" y="2813490"/>
                  </a:cubicBezTo>
                  <a:lnTo>
                    <a:pt x="0" y="146050"/>
                  </a:lnTo>
                  <a:cubicBezTo>
                    <a:pt x="0" y="66040"/>
                    <a:pt x="66040" y="0"/>
                    <a:pt x="164850" y="0"/>
                  </a:cubicBezTo>
                  <a:lnTo>
                    <a:pt x="5523279" y="0"/>
                  </a:lnTo>
                  <a:cubicBezTo>
                    <a:pt x="5603289" y="0"/>
                    <a:pt x="5669329" y="66040"/>
                    <a:pt x="5669329" y="146050"/>
                  </a:cubicBezTo>
                  <a:lnTo>
                    <a:pt x="5669329" y="2813490"/>
                  </a:lnTo>
                  <a:cubicBezTo>
                    <a:pt x="5669329" y="2894770"/>
                    <a:pt x="5603289" y="2959540"/>
                    <a:pt x="5523279" y="2959540"/>
                  </a:cubicBezTo>
                  <a:close/>
                </a:path>
              </a:pathLst>
            </a:custGeom>
            <a:solidFill>
              <a:srgbClr val="021633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734099" cy="3028120"/>
            </a:xfrm>
            <a:custGeom>
              <a:avLst/>
              <a:gdLst/>
              <a:ahLst/>
              <a:cxnLst/>
              <a:rect r="r" b="b" t="t" l="l"/>
              <a:pathLst>
                <a:path h="3028120" w="5734099">
                  <a:moveTo>
                    <a:pt x="63500" y="74930"/>
                  </a:moveTo>
                  <a:cubicBezTo>
                    <a:pt x="91440" y="30480"/>
                    <a:pt x="140970" y="0"/>
                    <a:pt x="216920" y="0"/>
                  </a:cubicBezTo>
                  <a:lnTo>
                    <a:pt x="5575349" y="0"/>
                  </a:lnTo>
                  <a:cubicBezTo>
                    <a:pt x="5662979" y="0"/>
                    <a:pt x="5734099" y="71120"/>
                    <a:pt x="5734099" y="158750"/>
                  </a:cubicBezTo>
                  <a:lnTo>
                    <a:pt x="5734099" y="2826190"/>
                  </a:lnTo>
                  <a:cubicBezTo>
                    <a:pt x="5734099" y="2878260"/>
                    <a:pt x="5708699" y="2923980"/>
                    <a:pt x="5670599" y="2953190"/>
                  </a:cubicBezTo>
                  <a:cubicBezTo>
                    <a:pt x="5642659" y="2997640"/>
                    <a:pt x="5593129" y="3028120"/>
                    <a:pt x="5535979" y="3028120"/>
                  </a:cubicBezTo>
                  <a:lnTo>
                    <a:pt x="158750" y="3028120"/>
                  </a:lnTo>
                  <a:cubicBezTo>
                    <a:pt x="71120" y="3028120"/>
                    <a:pt x="0" y="2957000"/>
                    <a:pt x="0" y="2869370"/>
                  </a:cubicBezTo>
                  <a:lnTo>
                    <a:pt x="0" y="208926"/>
                  </a:lnTo>
                  <a:cubicBezTo>
                    <a:pt x="0" y="149860"/>
                    <a:pt x="25400" y="104140"/>
                    <a:pt x="63500" y="74930"/>
                  </a:cubicBezTo>
                  <a:close/>
                  <a:moveTo>
                    <a:pt x="5721399" y="2826190"/>
                  </a:moveTo>
                  <a:lnTo>
                    <a:pt x="5721399" y="158750"/>
                  </a:lnTo>
                  <a:cubicBezTo>
                    <a:pt x="5721399" y="78740"/>
                    <a:pt x="5655359" y="12700"/>
                    <a:pt x="5575349" y="12700"/>
                  </a:cubicBezTo>
                  <a:lnTo>
                    <a:pt x="216920" y="12700"/>
                  </a:lnTo>
                  <a:cubicBezTo>
                    <a:pt x="118110" y="12700"/>
                    <a:pt x="52070" y="78740"/>
                    <a:pt x="52070" y="158750"/>
                  </a:cubicBezTo>
                  <a:lnTo>
                    <a:pt x="52070" y="2826190"/>
                  </a:lnTo>
                  <a:cubicBezTo>
                    <a:pt x="52070" y="2906200"/>
                    <a:pt x="118110" y="2972240"/>
                    <a:pt x="216920" y="2972240"/>
                  </a:cubicBezTo>
                  <a:lnTo>
                    <a:pt x="5575349" y="2972240"/>
                  </a:lnTo>
                  <a:cubicBezTo>
                    <a:pt x="5655359" y="2972240"/>
                    <a:pt x="5721399" y="2907470"/>
                    <a:pt x="5721399" y="2826190"/>
                  </a:cubicBezTo>
                  <a:close/>
                </a:path>
              </a:pathLst>
            </a:custGeom>
            <a:solidFill>
              <a:srgbClr val="C9A84C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2105025" y="3629025"/>
            <a:ext cx="6886575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 marL="0" indent="0" lvl="0">
              <a:lnSpc>
                <a:spcPts val="648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2105025" y="4743450"/>
            <a:ext cx="6886575" cy="1207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 marL="0" indent="0" lvl="0">
              <a:lnSpc>
                <a:spcPts val="3120"/>
              </a:lnSpc>
            </a:pPr>
            <a:r>
              <a:rPr lang="ar-EG" sz="2400">
                <a:solidFill>
                  <a:srgbClr val="F3E5B8"/>
                </a:solidFill>
                <a:latin typeface="Codec Pro"/>
                <a:ea typeface="Codec Pro"/>
                <a:cs typeface="Codec Pro"/>
                <a:sym typeface="Codec Pro"/>
                <a:rtl val="true"/>
              </a:rPr>
              <a:t>نقدم نموذجاً مبتكراً يسهم في </a:t>
            </a:r>
            <a:r>
              <a:rPr lang="ar-EG" b="true" sz="2400">
                <a:solidFill>
                  <a:srgbClr val="F3E5B8"/>
                </a:solidFill>
                <a:latin typeface="Codec Pro Bold"/>
                <a:ea typeface="Codec Pro Bold"/>
                <a:cs typeface="Codec Pro Bold"/>
                <a:sym typeface="Codec Pro Bold"/>
                <a:rtl val="true"/>
              </a:rPr>
              <a:t>تحقيق رؤية الإمارات </a:t>
            </a:r>
            <a:r>
              <a:rPr lang="en-US" b="true" sz="2400">
                <a:solidFill>
                  <a:srgbClr val="F3E5B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2071</a:t>
            </a:r>
            <a:r>
              <a:rPr lang="ar-EG" sz="2400">
                <a:solidFill>
                  <a:srgbClr val="F3E5B8"/>
                </a:solidFill>
                <a:latin typeface="Codec Pro"/>
                <a:ea typeface="Codec Pro"/>
                <a:cs typeface="Codec Pro"/>
                <a:sym typeface="Codec Pro"/>
                <a:rtl val="true"/>
              </a:rPr>
              <a:t>، ويعزز التعليم الذكي والمستدام لكافة المدارس.</a:t>
            </a:r>
          </a:p>
        </p:txBody>
      </p:sp>
      <p:sp>
        <p:nvSpPr>
          <p:cNvPr name="Freeform 7" id="7"/>
          <p:cNvSpPr/>
          <p:nvPr/>
        </p:nvSpPr>
        <p:spPr>
          <a:xfrm flipH="true" flipV="false" rot="0">
            <a:off x="10486143" y="2216792"/>
            <a:ext cx="5696832" cy="5911807"/>
          </a:xfrm>
          <a:custGeom>
            <a:avLst/>
            <a:gdLst/>
            <a:ahLst/>
            <a:cxnLst/>
            <a:rect r="r" b="b" t="t" l="l"/>
            <a:pathLst>
              <a:path h="5911807" w="5696832">
                <a:moveTo>
                  <a:pt x="5696832" y="0"/>
                </a:moveTo>
                <a:lnTo>
                  <a:pt x="0" y="0"/>
                </a:lnTo>
                <a:lnTo>
                  <a:pt x="0" y="5911807"/>
                </a:lnTo>
                <a:lnTo>
                  <a:pt x="5696832" y="5911807"/>
                </a:lnTo>
                <a:lnTo>
                  <a:pt x="569683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0546645" y="2306609"/>
            <a:ext cx="4485772" cy="4485772"/>
          </a:xfrm>
          <a:custGeom>
            <a:avLst/>
            <a:gdLst/>
            <a:ahLst/>
            <a:cxnLst/>
            <a:rect r="r" b="b" t="t" l="l"/>
            <a:pathLst>
              <a:path h="4485772" w="4485772">
                <a:moveTo>
                  <a:pt x="0" y="0"/>
                </a:moveTo>
                <a:lnTo>
                  <a:pt x="4485772" y="0"/>
                </a:lnTo>
                <a:lnTo>
                  <a:pt x="4485772" y="4485772"/>
                </a:lnTo>
                <a:lnTo>
                  <a:pt x="0" y="44857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740532" y="2713074"/>
            <a:ext cx="7615560" cy="1836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 marL="0" indent="0" lvl="0">
              <a:lnSpc>
                <a:spcPts val="7019"/>
              </a:lnSpc>
            </a:pPr>
            <a:r>
              <a:rPr lang="ar-EG" b="true" sz="5399">
                <a:solidFill>
                  <a:srgbClr val="F3E5B8"/>
                </a:solidFill>
                <a:latin typeface="Codec Pro Bold"/>
                <a:ea typeface="Codec Pro Bold"/>
                <a:cs typeface="Codec Pro Bold"/>
                <a:sym typeface="Codec Pro Bold"/>
                <a:rtl val="true"/>
              </a:rPr>
              <a:t>رؤية مستقبلية للتعليم في الإمارات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6954500" cy="8953500"/>
            <a:chOff x="0" y="0"/>
            <a:chExt cx="5734099" cy="3028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52070" y="12700"/>
              <a:ext cx="5669329" cy="2959540"/>
            </a:xfrm>
            <a:custGeom>
              <a:avLst/>
              <a:gdLst/>
              <a:ahLst/>
              <a:cxnLst/>
              <a:rect r="r" b="b" t="t" l="l"/>
              <a:pathLst>
                <a:path h="2959540" w="5669329">
                  <a:moveTo>
                    <a:pt x="5523279" y="2959540"/>
                  </a:moveTo>
                  <a:lnTo>
                    <a:pt x="164850" y="2959540"/>
                  </a:lnTo>
                  <a:cubicBezTo>
                    <a:pt x="66040" y="2959540"/>
                    <a:pt x="0" y="2893500"/>
                    <a:pt x="0" y="2813490"/>
                  </a:cubicBezTo>
                  <a:lnTo>
                    <a:pt x="0" y="146050"/>
                  </a:lnTo>
                  <a:cubicBezTo>
                    <a:pt x="0" y="66040"/>
                    <a:pt x="66040" y="0"/>
                    <a:pt x="164850" y="0"/>
                  </a:cubicBezTo>
                  <a:lnTo>
                    <a:pt x="5523279" y="0"/>
                  </a:lnTo>
                  <a:cubicBezTo>
                    <a:pt x="5603289" y="0"/>
                    <a:pt x="5669329" y="66040"/>
                    <a:pt x="5669329" y="146050"/>
                  </a:cubicBezTo>
                  <a:lnTo>
                    <a:pt x="5669329" y="2813490"/>
                  </a:lnTo>
                  <a:cubicBezTo>
                    <a:pt x="5669329" y="2894770"/>
                    <a:pt x="5603289" y="2959540"/>
                    <a:pt x="5523279" y="2959540"/>
                  </a:cubicBezTo>
                  <a:close/>
                </a:path>
              </a:pathLst>
            </a:custGeom>
            <a:solidFill>
              <a:srgbClr val="021633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734099" cy="3028120"/>
            </a:xfrm>
            <a:custGeom>
              <a:avLst/>
              <a:gdLst/>
              <a:ahLst/>
              <a:cxnLst/>
              <a:rect r="r" b="b" t="t" l="l"/>
              <a:pathLst>
                <a:path h="3028120" w="5734099">
                  <a:moveTo>
                    <a:pt x="63500" y="74930"/>
                  </a:moveTo>
                  <a:cubicBezTo>
                    <a:pt x="91440" y="30480"/>
                    <a:pt x="140970" y="0"/>
                    <a:pt x="216920" y="0"/>
                  </a:cubicBezTo>
                  <a:lnTo>
                    <a:pt x="5575349" y="0"/>
                  </a:lnTo>
                  <a:cubicBezTo>
                    <a:pt x="5662979" y="0"/>
                    <a:pt x="5734099" y="71120"/>
                    <a:pt x="5734099" y="158750"/>
                  </a:cubicBezTo>
                  <a:lnTo>
                    <a:pt x="5734099" y="2826190"/>
                  </a:lnTo>
                  <a:cubicBezTo>
                    <a:pt x="5734099" y="2878260"/>
                    <a:pt x="5708699" y="2923980"/>
                    <a:pt x="5670599" y="2953190"/>
                  </a:cubicBezTo>
                  <a:cubicBezTo>
                    <a:pt x="5642659" y="2997640"/>
                    <a:pt x="5593129" y="3028120"/>
                    <a:pt x="5535979" y="3028120"/>
                  </a:cubicBezTo>
                  <a:lnTo>
                    <a:pt x="158750" y="3028120"/>
                  </a:lnTo>
                  <a:cubicBezTo>
                    <a:pt x="71120" y="3028120"/>
                    <a:pt x="0" y="2957000"/>
                    <a:pt x="0" y="2869370"/>
                  </a:cubicBezTo>
                  <a:lnTo>
                    <a:pt x="0" y="208926"/>
                  </a:lnTo>
                  <a:cubicBezTo>
                    <a:pt x="0" y="149860"/>
                    <a:pt x="25400" y="104140"/>
                    <a:pt x="63500" y="74930"/>
                  </a:cubicBezTo>
                  <a:close/>
                  <a:moveTo>
                    <a:pt x="5721399" y="2826190"/>
                  </a:moveTo>
                  <a:lnTo>
                    <a:pt x="5721399" y="158750"/>
                  </a:lnTo>
                  <a:cubicBezTo>
                    <a:pt x="5721399" y="78740"/>
                    <a:pt x="5655359" y="12700"/>
                    <a:pt x="5575349" y="12700"/>
                  </a:cubicBezTo>
                  <a:lnTo>
                    <a:pt x="216920" y="12700"/>
                  </a:lnTo>
                  <a:cubicBezTo>
                    <a:pt x="118110" y="12700"/>
                    <a:pt x="52070" y="78740"/>
                    <a:pt x="52070" y="158750"/>
                  </a:cubicBezTo>
                  <a:lnTo>
                    <a:pt x="52070" y="2826190"/>
                  </a:lnTo>
                  <a:cubicBezTo>
                    <a:pt x="52070" y="2906200"/>
                    <a:pt x="118110" y="2972240"/>
                    <a:pt x="216920" y="2972240"/>
                  </a:cubicBezTo>
                  <a:lnTo>
                    <a:pt x="5575349" y="2972240"/>
                  </a:lnTo>
                  <a:cubicBezTo>
                    <a:pt x="5655359" y="2972240"/>
                    <a:pt x="5721399" y="2907470"/>
                    <a:pt x="5721399" y="2826190"/>
                  </a:cubicBezTo>
                  <a:close/>
                </a:path>
              </a:pathLst>
            </a:custGeom>
            <a:solidFill>
              <a:srgbClr val="C9A84C"/>
            </a:solidFill>
          </p:spPr>
        </p:sp>
      </p:grpSp>
      <p:sp>
        <p:nvSpPr>
          <p:cNvPr name="Freeform 5" id="5"/>
          <p:cNvSpPr/>
          <p:nvPr/>
        </p:nvSpPr>
        <p:spPr>
          <a:xfrm flipH="true" flipV="false" rot="-5400000">
            <a:off x="10401585" y="2266950"/>
            <a:ext cx="7158835" cy="5753100"/>
          </a:xfrm>
          <a:custGeom>
            <a:avLst/>
            <a:gdLst/>
            <a:ahLst/>
            <a:cxnLst/>
            <a:rect r="r" b="b" t="t" l="l"/>
            <a:pathLst>
              <a:path h="5753100" w="7158835">
                <a:moveTo>
                  <a:pt x="7158835" y="0"/>
                </a:moveTo>
                <a:lnTo>
                  <a:pt x="0" y="0"/>
                </a:lnTo>
                <a:lnTo>
                  <a:pt x="0" y="5753100"/>
                </a:lnTo>
                <a:lnTo>
                  <a:pt x="7158835" y="5753100"/>
                </a:lnTo>
                <a:lnTo>
                  <a:pt x="715883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0546645" y="2306609"/>
            <a:ext cx="4485772" cy="4485772"/>
          </a:xfrm>
          <a:custGeom>
            <a:avLst/>
            <a:gdLst/>
            <a:ahLst/>
            <a:cxnLst/>
            <a:rect r="r" b="b" t="t" l="l"/>
            <a:pathLst>
              <a:path h="4485772" w="4485772">
                <a:moveTo>
                  <a:pt x="0" y="0"/>
                </a:moveTo>
                <a:lnTo>
                  <a:pt x="4485772" y="0"/>
                </a:lnTo>
                <a:lnTo>
                  <a:pt x="4485772" y="4485772"/>
                </a:lnTo>
                <a:lnTo>
                  <a:pt x="0" y="44857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477349" y="8801114"/>
            <a:ext cx="342900" cy="342900"/>
          </a:xfrm>
          <a:custGeom>
            <a:avLst/>
            <a:gdLst/>
            <a:ahLst/>
            <a:cxnLst/>
            <a:rect r="r" b="b" t="t" l="l"/>
            <a:pathLst>
              <a:path h="342900" w="342900">
                <a:moveTo>
                  <a:pt x="0" y="0"/>
                </a:moveTo>
                <a:lnTo>
                  <a:pt x="342900" y="0"/>
                </a:lnTo>
                <a:lnTo>
                  <a:pt x="3429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717740" y="8801114"/>
            <a:ext cx="342900" cy="342900"/>
          </a:xfrm>
          <a:custGeom>
            <a:avLst/>
            <a:gdLst/>
            <a:ahLst/>
            <a:cxnLst/>
            <a:rect r="r" b="b" t="t" l="l"/>
            <a:pathLst>
              <a:path h="342900" w="342900">
                <a:moveTo>
                  <a:pt x="0" y="0"/>
                </a:moveTo>
                <a:lnTo>
                  <a:pt x="342900" y="0"/>
                </a:lnTo>
                <a:lnTo>
                  <a:pt x="3429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095651" y="8801114"/>
            <a:ext cx="343598" cy="342900"/>
          </a:xfrm>
          <a:custGeom>
            <a:avLst/>
            <a:gdLst/>
            <a:ahLst/>
            <a:cxnLst/>
            <a:rect r="r" b="b" t="t" l="l"/>
            <a:pathLst>
              <a:path h="342900" w="343598">
                <a:moveTo>
                  <a:pt x="0" y="0"/>
                </a:moveTo>
                <a:lnTo>
                  <a:pt x="343598" y="0"/>
                </a:lnTo>
                <a:lnTo>
                  <a:pt x="343598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105025" y="2745105"/>
            <a:ext cx="8324850" cy="426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 marL="0" indent="0" lvl="0">
              <a:lnSpc>
                <a:spcPts val="3120"/>
              </a:lnSpc>
            </a:pPr>
            <a:r>
              <a:rPr lang="ar-EG" b="true" sz="2400">
                <a:solidFill>
                  <a:srgbClr val="F3E5B8"/>
                </a:solidFill>
                <a:latin typeface="Codec Pro Ultra-Bold"/>
                <a:ea typeface="Codec Pro Ultra-Bold"/>
                <a:cs typeface="Codec Pro Ultra-Bold"/>
                <a:sym typeface="Codec Pro Ultra-Bold"/>
                <a:rtl val="true"/>
              </a:rPr>
              <a:t>نقدر وقتكم واهتمامكم بمشروعنا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3238500" y="6038870"/>
            <a:ext cx="6057900" cy="727670"/>
            <a:chOff x="0" y="0"/>
            <a:chExt cx="8077200" cy="970226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38100"/>
              <a:ext cx="8077200" cy="520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rtl="true" marL="0" indent="0" lvl="0">
                <a:lnSpc>
                  <a:spcPts val="2880"/>
                </a:lnSpc>
              </a:pPr>
              <a:r>
                <a:rPr lang="ar-EG" b="true" sz="2400">
                  <a:solidFill>
                    <a:srgbClr val="F3E5B8"/>
                  </a:solidFill>
                  <a:latin typeface="Codec Pro Ultra-Bold"/>
                  <a:ea typeface="Codec Pro Ultra-Bold"/>
                  <a:cs typeface="Codec Pro Ultra-Bold"/>
                  <a:sym typeface="Codec Pro Ultra-Bold"/>
                  <a:rtl val="true"/>
                </a:rPr>
                <a:t>البريد الإلكتروني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449526"/>
              <a:ext cx="8077200" cy="520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rtl="true" marL="0" indent="0" lvl="0">
                <a:lnSpc>
                  <a:spcPts val="2880"/>
                </a:lnSpc>
              </a:pPr>
              <a:r>
                <a:rPr lang="ar-EG" sz="2400">
                  <a:solidFill>
                    <a:srgbClr val="F3E5B8"/>
                  </a:solidFill>
                  <a:latin typeface="Codec Pro"/>
                  <a:ea typeface="Codec Pro"/>
                  <a:cs typeface="Codec Pro"/>
                  <a:sym typeface="Codec Pro"/>
                  <a:rtl val="true"/>
                </a:rPr>
                <a:t> </a:t>
              </a:r>
              <a:r>
                <a:rPr lang="en-US" sz="2400">
                  <a:solidFill>
                    <a:srgbClr val="F3E5B8"/>
                  </a:solidFill>
                  <a:latin typeface="Codec Pro"/>
                  <a:ea typeface="Codec Pro"/>
                  <a:cs typeface="Codec Pro"/>
                  <a:sym typeface="Codec Pro"/>
                </a:rPr>
                <a:t>Ha</a:t>
              </a:r>
              <a:r>
                <a:rPr lang="en-US" sz="2400">
                  <a:solidFill>
                    <a:srgbClr val="F3E5B8"/>
                  </a:solidFill>
                  <a:latin typeface="Codec Pro"/>
                  <a:ea typeface="Codec Pro"/>
                  <a:cs typeface="Codec Pro"/>
                  <a:sym typeface="Codec Pro"/>
                </a:rPr>
                <a:t>lima.Almaamari@moe.sch.ae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238500" y="7018060"/>
            <a:ext cx="6057900" cy="727670"/>
            <a:chOff x="0" y="0"/>
            <a:chExt cx="8077200" cy="970226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-38100"/>
              <a:ext cx="8077200" cy="520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rtl="true" marL="0" indent="0" lvl="0">
                <a:lnSpc>
                  <a:spcPts val="2880"/>
                </a:lnSpc>
              </a:pPr>
              <a:r>
                <a:rPr lang="ar-EG" b="true" sz="2400">
                  <a:solidFill>
                    <a:srgbClr val="F3E5B8"/>
                  </a:solidFill>
                  <a:latin typeface="Codec Pro Ultra-Bold"/>
                  <a:ea typeface="Codec Pro Ultra-Bold"/>
                  <a:cs typeface="Codec Pro Ultra-Bold"/>
                  <a:sym typeface="Codec Pro Ultra-Bold"/>
                  <a:rtl val="true"/>
                </a:rPr>
                <a:t>رقم الهاتف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449526"/>
              <a:ext cx="8077200" cy="520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rtl="true" marL="0" indent="0" lvl="0">
                <a:lnSpc>
                  <a:spcPts val="2880"/>
                </a:lnSpc>
              </a:pPr>
              <a:r>
                <a:rPr lang="en-US" sz="2400">
                  <a:solidFill>
                    <a:srgbClr val="F3E5B8"/>
                  </a:solidFill>
                  <a:latin typeface="Codec Pro"/>
                  <a:ea typeface="Codec Pro"/>
                  <a:cs typeface="Codec Pro"/>
                  <a:sym typeface="Codec Pro"/>
                </a:rPr>
                <a:t>0</a:t>
              </a:r>
              <a:r>
                <a:rPr lang="en-US" sz="2400">
                  <a:solidFill>
                    <a:srgbClr val="F3E5B8"/>
                  </a:solidFill>
                  <a:latin typeface="Codec Pro"/>
                  <a:ea typeface="Codec Pro"/>
                  <a:cs typeface="Codec Pro"/>
                  <a:sym typeface="Codec Pro"/>
                </a:rPr>
                <a:t>37016615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238500" y="7997244"/>
            <a:ext cx="6057900" cy="727670"/>
            <a:chOff x="0" y="0"/>
            <a:chExt cx="8077200" cy="970226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-38100"/>
              <a:ext cx="8077200" cy="520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rtl="true" marL="0" indent="0" lvl="0">
                <a:lnSpc>
                  <a:spcPts val="2880"/>
                </a:lnSpc>
                <a:spcBef>
                  <a:spcPct val="0"/>
                </a:spcBef>
              </a:pPr>
              <a:r>
                <a:rPr lang="ar-EG" b="true" sz="2400" strike="noStrike" u="none">
                  <a:solidFill>
                    <a:srgbClr val="F3E5B8"/>
                  </a:solidFill>
                  <a:latin typeface="Codec Pro Ultra-Bold"/>
                  <a:ea typeface="Codec Pro Ultra-Bold"/>
                  <a:cs typeface="Codec Pro Ultra-Bold"/>
                  <a:sym typeface="Codec Pro Ultra-Bold"/>
                  <a:rtl val="true"/>
                </a:rPr>
                <a:t>وسائل التواصل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449526"/>
              <a:ext cx="8077200" cy="520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rtl="true" marL="0" indent="0" lvl="0">
                <a:lnSpc>
                  <a:spcPts val="2880"/>
                </a:lnSpc>
              </a:pPr>
              <a:r>
                <a:rPr lang="en-US" sz="2400">
                  <a:solidFill>
                    <a:srgbClr val="F3E5B8"/>
                  </a:solidFill>
                  <a:latin typeface="Codec Pro"/>
                  <a:ea typeface="Codec Pro"/>
                  <a:cs typeface="Codec Pro"/>
                  <a:sym typeface="Codec Pro"/>
                </a:rPr>
                <a:t>A</a:t>
              </a:r>
              <a:r>
                <a:rPr lang="en-US" sz="2400">
                  <a:solidFill>
                    <a:srgbClr val="F3E5B8"/>
                  </a:solidFill>
                  <a:latin typeface="Codec Pro"/>
                  <a:ea typeface="Codec Pro"/>
                  <a:cs typeface="Codec Pro"/>
                  <a:sym typeface="Codec Pro"/>
                </a:rPr>
                <a:t>ljood_school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2221795" y="1518284"/>
            <a:ext cx="8324850" cy="1217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 marL="0" indent="0" lvl="0">
              <a:lnSpc>
                <a:spcPts val="8969"/>
              </a:lnSpc>
            </a:pPr>
            <a:r>
              <a:rPr lang="ar-EG" b="true" sz="6899">
                <a:solidFill>
                  <a:srgbClr val="C9A84C"/>
                </a:solidFill>
                <a:latin typeface="Codec Pro Ultra-Bold"/>
                <a:ea typeface="Codec Pro Ultra-Bold"/>
                <a:cs typeface="Codec Pro Ultra-Bold"/>
                <a:sym typeface="Codec Pro Ultra-Bold"/>
                <a:rtl val="true"/>
              </a:rPr>
              <a:t>شكراً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مدرسة الجود الرقمية</dc:description>
  <dc:identifier>DAHGWXkCvJo</dc:identifier>
  <dcterms:modified xsi:type="dcterms:W3CDTF">2011-08-01T06:04:30Z</dcterms:modified>
  <cp:revision>1</cp:revision>
  <dc:title>Presentation - مدرسة الجود الرقمية</dc:title>
</cp:coreProperties>
</file>