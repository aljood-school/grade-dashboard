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617220"/>
            <a:ext cx="7955280" cy="90525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784080" y="617220"/>
            <a:ext cx="1097280" cy="9052560"/>
          </a:xfrm>
          <a:prstGeom prst="rect">
            <a:avLst/>
          </a:prstGeom>
          <a:solidFill>
            <a:srgbClr val="1A2A4A">
              <a:alpha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34440"/>
            <a:ext cx="128016" cy="78181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43584" y="925830"/>
            <a:ext cx="3474720" cy="977265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43584" y="956691"/>
            <a:ext cx="3474720" cy="905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1A2A4A"/>
                </a:solidFill>
                <a:latin typeface="Calibri"/>
              </a:rPr>
              <a:t>يناير 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3584" y="2160270"/>
            <a:ext cx="8046720" cy="1337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 i="0">
                <a:solidFill>
                  <a:srgbClr val="C9A84C"/>
                </a:solidFill>
                <a:latin typeface="Calibri"/>
              </a:rPr>
              <a:t>قانون حماية الطفل الرقمي الإماراتي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43584" y="3549014"/>
            <a:ext cx="804672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D0D8E8"/>
                </a:solidFill>
                <a:latin typeface="Calibri"/>
              </a:rPr>
              <a:t>UAE Child Digital Safety Law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43584" y="4443984"/>
            <a:ext cx="7498080" cy="30861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43584" y="5061204"/>
            <a:ext cx="174879" cy="17487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4814316"/>
            <a:ext cx="762609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حماية الأطفال من المحتوى الرقمي الضار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5503545"/>
            <a:ext cx="7626096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0D8E8"/>
                </a:solidFill>
                <a:latin typeface="Calibri"/>
              </a:rPr>
              <a:t>Protecting children from harmful digital content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43584" y="6655689"/>
            <a:ext cx="174879" cy="17487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64208" y="6408801"/>
            <a:ext cx="762609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صون الخصوصية والبيانات الشخصية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7098030"/>
            <a:ext cx="7626096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0D8E8"/>
                </a:solidFill>
                <a:latin typeface="Calibri"/>
              </a:rPr>
              <a:t>Safeguarding personal privacy &amp;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43584" y="8250174"/>
            <a:ext cx="174879" cy="17487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64208" y="8003286"/>
            <a:ext cx="7626096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تعزيز الرقابة والمسؤولية الرقمية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8692515"/>
            <a:ext cx="7626096" cy="668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0D8E8"/>
                </a:solidFill>
                <a:latin typeface="Calibri"/>
              </a:rPr>
              <a:t>Promoting digital oversight &amp; accountability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9690354"/>
            <a:ext cx="18288000" cy="10287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00" cy="12344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08610"/>
            <a:ext cx="164592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9A84C"/>
                </a:solidFill>
                <a:latin typeface="Calibri"/>
              </a:rPr>
              <a:t>كيف تُجسّد بوابتنا القانون؟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285875"/>
            <a:ext cx="16459200" cy="72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D0D8E8"/>
                </a:solidFill>
                <a:latin typeface="Calibri"/>
              </a:rPr>
              <a:t>How Our Portal Implements the Law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211705"/>
            <a:ext cx="5285232" cy="48153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3504" y="5582446"/>
            <a:ext cx="5285232" cy="1444603"/>
          </a:xfrm>
          <a:prstGeom prst="rect">
            <a:avLst/>
          </a:prstGeom>
          <a:solidFill>
            <a:srgbClr val="223860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3504" y="7027049"/>
            <a:ext cx="5285232" cy="2951341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" y="7027049"/>
            <a:ext cx="5285232" cy="720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7181354"/>
            <a:ext cx="4919472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C9A84C"/>
                </a:solidFill>
                <a:latin typeface="Calibri"/>
              </a:rPr>
              <a:t>حماية البيانات والخصوصية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7952879"/>
            <a:ext cx="4919472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0D8E8"/>
                </a:solidFill>
                <a:latin typeface="Calibri"/>
              </a:rPr>
              <a:t>Data Privacy &amp; Protection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8518664"/>
            <a:ext cx="4919472" cy="87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صلاحيات وكلمات مرور مخصصة لكل دور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211705"/>
            <a:ext cx="5285232" cy="48153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291072" y="5582446"/>
            <a:ext cx="5285232" cy="1444603"/>
          </a:xfrm>
          <a:prstGeom prst="rect">
            <a:avLst/>
          </a:prstGeom>
          <a:solidFill>
            <a:srgbClr val="223860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91072" y="7027049"/>
            <a:ext cx="5285232" cy="2951341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7027049"/>
            <a:ext cx="5285232" cy="720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7181354"/>
            <a:ext cx="4919472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C9A84C"/>
                </a:solidFill>
                <a:latin typeface="Calibri"/>
              </a:rPr>
              <a:t>رقابة أولياء الأمور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7952879"/>
            <a:ext cx="4919472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0D8E8"/>
                </a:solidFill>
                <a:latin typeface="Calibri"/>
              </a:rPr>
              <a:t>Parent Monitoring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3952" y="8518664"/>
            <a:ext cx="4919472" cy="87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متابعة الأداء الأكاديمي للأبناء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0" y="2211705"/>
            <a:ext cx="5285232" cy="481534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1978640" y="5582446"/>
            <a:ext cx="5285232" cy="1444603"/>
          </a:xfrm>
          <a:prstGeom prst="rect">
            <a:avLst/>
          </a:prstGeom>
          <a:solidFill>
            <a:srgbClr val="223860">
              <a:alpha val="7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978640" y="7027049"/>
            <a:ext cx="5285232" cy="2951341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978640" y="7027049"/>
            <a:ext cx="5285232" cy="72009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161520" y="7181354"/>
            <a:ext cx="4919472" cy="771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C9A84C"/>
                </a:solidFill>
                <a:latin typeface="Calibri"/>
              </a:rPr>
              <a:t>شفافية أكاديمية فورية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61520" y="7952879"/>
            <a:ext cx="4919472" cy="5657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D0D8E8"/>
                </a:solidFill>
                <a:latin typeface="Calibri"/>
              </a:rPr>
              <a:t>Instant Academic 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0" y="8518664"/>
            <a:ext cx="4919472" cy="87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تقارير وتحليلات في الوقت الفعلي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9854946"/>
            <a:ext cx="18288000" cy="92583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9947529"/>
            <a:ext cx="1645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9A84C"/>
                </a:solidFill>
                <a:latin typeface="Calibri"/>
              </a:rPr>
              <a:t>بوابة مدرسة الجود الرقمية  |  مدرسة حكومية، العين، أبوظبي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