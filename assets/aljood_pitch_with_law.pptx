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5.svg" ContentType="image/svg+xml"/>
  <Override PartName="/ppt/media/image17.svg" ContentType="image/svg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66" r:id="rId20"/>
    <p:sldId id="267" r:id="rId21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odec Pro Ultra-Bold" charset="1" panose="00000700000000000000"/>
      <p:regular r:id="rId16"/>
    </p:embeddedFont>
    <p:embeddedFont>
      <p:font typeface="Noto Sans Arabic Bold" charset="1" panose="020B0802040504020204"/>
      <p:regular r:id="rId17"/>
    </p:embeddedFont>
    <p:embeddedFont>
      <p:font typeface="Codec Pro" charset="1" panose="00000500000000000000"/>
      <p:regular r:id="rId18"/>
    </p:embeddedFont>
    <p:embeddedFont>
      <p:font typeface="Codec Pro Bold" charset="1" panose="000006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sv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93914" y="1171470"/>
            <a:ext cx="6898579" cy="7848810"/>
            <a:chOff x="0" y="0"/>
            <a:chExt cx="1078972" cy="122759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78972" cy="1227593"/>
            </a:xfrm>
            <a:custGeom>
              <a:avLst/>
              <a:gdLst/>
              <a:ahLst/>
              <a:cxnLst/>
              <a:rect r="r" b="b" t="t" l="l"/>
              <a:pathLst>
                <a:path h="1227593" w="1078972">
                  <a:moveTo>
                    <a:pt x="1022860" y="0"/>
                  </a:moveTo>
                  <a:lnTo>
                    <a:pt x="56112" y="0"/>
                  </a:lnTo>
                  <a:cubicBezTo>
                    <a:pt x="25122" y="0"/>
                    <a:pt x="0" y="25122"/>
                    <a:pt x="0" y="56112"/>
                  </a:cubicBezTo>
                  <a:lnTo>
                    <a:pt x="0" y="1171481"/>
                  </a:lnTo>
                  <a:cubicBezTo>
                    <a:pt x="0" y="1202471"/>
                    <a:pt x="25122" y="1227593"/>
                    <a:pt x="56112" y="1227593"/>
                  </a:cubicBezTo>
                  <a:lnTo>
                    <a:pt x="1022860" y="1227593"/>
                  </a:lnTo>
                  <a:cubicBezTo>
                    <a:pt x="1053850" y="1227593"/>
                    <a:pt x="1078972" y="1202471"/>
                    <a:pt x="1078972" y="1171481"/>
                  </a:cubicBezTo>
                  <a:lnTo>
                    <a:pt x="1078972" y="56112"/>
                  </a:lnTo>
                  <a:cubicBezTo>
                    <a:pt x="1078972" y="25122"/>
                    <a:pt x="1053850" y="0"/>
                    <a:pt x="102286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53" r="0" b="-153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9377362" y="150495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التحول الرقمي في التعليم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991600" y="824738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أ.منيرة علي المري </a:t>
            </a:r>
            <a:r>
              <a:rPr lang="en-US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574243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991600" y="3348279"/>
            <a:ext cx="8267700" cy="272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10861"/>
              </a:lnSpc>
              <a:spcBef>
                <a:spcPct val="0"/>
              </a:spcBef>
            </a:pPr>
            <a:r>
              <a:rPr lang="ar-EG" b="true" sz="8689">
                <a:solidFill>
                  <a:srgbClr val="C9A84C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بوابة مدرسة الجود الرقمية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025" y="5348287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تواجه المدارس صعوبات في إدارة البيانات والتواصل، مما يؤثر سلباً على تجربة التعليم والتعلم.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14462" y="3330508"/>
            <a:ext cx="8267700" cy="1812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ar-EG" b="true" sz="548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التحديات الحقيقية التي تواجه المدارس اليوم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188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0"/>
            <a:ext cx="18288000" cy="228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01168"/>
            <a:ext cx="1773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C9A84C"/>
                </a:solidFill>
              </a:rPr>
              <a:t>السياق الوطني: قانون سلامة الطفل الرقمي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41248"/>
            <a:ext cx="1773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1">
                <a:solidFill>
                  <a:srgbClr val="FFFFFF"/>
                </a:solidFill>
              </a:rPr>
              <a:t>UAE Federal Decree No. 2 / 2026 — Child Digital Safety Law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4754880" cy="5029200"/>
          </a:xfrm>
          <a:prstGeom prst="rect">
            <a:avLst/>
          </a:prstGeom>
          <a:solidFill>
            <a:srgbClr val="243860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00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مرسوم اتحادي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57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رقم 2 لسنة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42316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9A84C"/>
                </a:solidFill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حماية الطفل في الفضاء الرقمي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886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9A84C"/>
                </a:solidFill>
              </a:rPr>
              <a:t>Child Digital Safety Law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343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AAAA"/>
                </a:solidFill>
              </a:rPr>
              <a:t>يناير 2026 | January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1325880"/>
            <a:ext cx="12435840" cy="914400"/>
          </a:xfrm>
          <a:prstGeom prst="rect">
            <a:avLst/>
          </a:prstGeom>
          <a:solidFill>
            <a:srgbClr val="243860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325880"/>
            <a:ext cx="640080" cy="914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A4A"/>
                </a:solidFill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39903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</a:rPr>
              <a:t>حماية البيانات الرقمية للطلاب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828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C9A84C"/>
                </a:solidFill>
              </a:rPr>
              <a:t>Student Digital Data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2350008"/>
            <a:ext cx="12435840" cy="914400"/>
          </a:xfrm>
          <a:prstGeom prst="rect">
            <a:avLst/>
          </a:prstGeom>
          <a:solidFill>
            <a:srgbClr val="243860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0" y="2350008"/>
            <a:ext cx="640080" cy="914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32120" y="25786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A4A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4231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</a:rPr>
              <a:t>توثيق هوية المستخدمين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529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C9A84C"/>
                </a:solidFill>
              </a:rPr>
              <a:t>User Identity Verification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3374136"/>
            <a:ext cx="12435840" cy="914400"/>
          </a:xfrm>
          <a:prstGeom prst="rect">
            <a:avLst/>
          </a:prstGeom>
          <a:solidFill>
            <a:srgbClr val="243860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0" y="3374136"/>
            <a:ext cx="640080" cy="914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32120" y="360273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A4A"/>
                </a:solidFill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4728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</a:rPr>
              <a:t>رقابة أولياء الأمور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877056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C9A84C"/>
                </a:solidFill>
              </a:rPr>
              <a:t>Parental Monitoring &amp; Control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4398264"/>
            <a:ext cx="12435840" cy="914400"/>
          </a:xfrm>
          <a:prstGeom prst="rect">
            <a:avLst/>
          </a:prstGeom>
          <a:solidFill>
            <a:srgbClr val="243860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0" y="4398264"/>
            <a:ext cx="640080" cy="914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462686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A4A"/>
                </a:solidFill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47141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</a:rPr>
              <a:t>الإبلاغ الفوري عن الاختراقات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90118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C9A84C"/>
                </a:solidFill>
              </a:rPr>
              <a:t>Mandatory Breach Reporting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5422392"/>
            <a:ext cx="12435840" cy="914400"/>
          </a:xfrm>
          <a:prstGeom prst="rect">
            <a:avLst/>
          </a:prstGeom>
          <a:solidFill>
            <a:srgbClr val="243860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0" y="5422392"/>
            <a:ext cx="640080" cy="914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32120" y="565099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A4A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495544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</a:rPr>
              <a:t>ضبط صلاحيات الوصول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592531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C9A84C"/>
                </a:solidFill>
              </a:rPr>
              <a:t>Granular Access Control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10058400"/>
            <a:ext cx="17739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A4A"/>
                </a:solidFill>
              </a:rPr>
              <a:t>أول تشريع اتحادي إماراتي لحماية الطفل في الفضاء الرقمي — يناير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188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0"/>
            <a:ext cx="18288000" cy="228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17739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600" b="1" i="0">
                <a:solidFill>
                  <a:srgbClr val="C9A84C"/>
                </a:solidFill>
              </a:rPr>
              <a:t>كيف تُجسّد بوابة الجود أحكام القانون؟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777240"/>
            <a:ext cx="1773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1">
                <a:solidFill>
                  <a:srgbClr val="FFFFFF"/>
                </a:solidFill>
              </a:rPr>
              <a:t>Al Jood Portal — Compliance with Child Digital Safety Law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8229600" cy="5029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61872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2A4A"/>
                </a:solidFill>
              </a:rPr>
              <a:t>متطلب القانون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0" y="1234440"/>
            <a:ext cx="9281160" cy="502920"/>
          </a:xfrm>
          <a:prstGeom prst="rect">
            <a:avLst/>
          </a:prstGeom>
          <a:solidFill>
            <a:srgbClr val="243860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261872"/>
            <a:ext cx="9189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ميزة بوابة الجود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783080"/>
            <a:ext cx="8229600" cy="804672"/>
          </a:xfrm>
          <a:prstGeom prst="rect">
            <a:avLst/>
          </a:prstGeom>
          <a:solidFill>
            <a:srgbClr val="243860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9659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حماية البيانات الرقمية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1783080"/>
            <a:ext cx="9281160" cy="804672"/>
          </a:xfrm>
          <a:prstGeom prst="rect">
            <a:avLst/>
          </a:prstGeom>
          <a:solidFill>
            <a:srgbClr val="243860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0" y="1984248"/>
            <a:ext cx="502920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95944" y="2002536"/>
            <a:ext cx="484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856231"/>
            <a:ext cx="8503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localStorage — بيانات محلية آمنة، لا سحابة خارجية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624328"/>
            <a:ext cx="8229600" cy="804672"/>
          </a:xfrm>
          <a:prstGeom prst="rect">
            <a:avLst/>
          </a:prstGeom>
          <a:solidFill>
            <a:srgbClr val="1E3050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2807208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توثيق هوية المستخدمين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0" y="2624328"/>
            <a:ext cx="9281160" cy="804672"/>
          </a:xfrm>
          <a:prstGeom prst="rect">
            <a:avLst/>
          </a:prstGeom>
          <a:solidFill>
            <a:srgbClr val="1E3050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0" y="2825496"/>
            <a:ext cx="502920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95944" y="2843784"/>
            <a:ext cx="484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697480"/>
            <a:ext cx="8503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5 مستويات دخول مستقلة: مدير، مديرة، معلم، إداري، ولي أمر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65576"/>
            <a:ext cx="8229600" cy="804672"/>
          </a:xfrm>
          <a:prstGeom prst="rect">
            <a:avLst/>
          </a:prstGeom>
          <a:solidFill>
            <a:srgbClr val="243860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648456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رقابة أولياء الأمور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3465576"/>
            <a:ext cx="9281160" cy="804672"/>
          </a:xfrm>
          <a:prstGeom prst="rect">
            <a:avLst/>
          </a:prstGeom>
          <a:solidFill>
            <a:srgbClr val="243860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3666744"/>
            <a:ext cx="502920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685032"/>
            <a:ext cx="484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538728"/>
            <a:ext cx="8503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بوابة ولي الأمر — قيد التطوير وإطلاق قريب مع بيانات الطلاب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306824"/>
            <a:ext cx="8229600" cy="804672"/>
          </a:xfrm>
          <a:prstGeom prst="rect">
            <a:avLst/>
          </a:prstGeom>
          <a:solidFill>
            <a:srgbClr val="1E3050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4489704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الإبلاغ عن الاختراقات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0" y="4306824"/>
            <a:ext cx="9281160" cy="804672"/>
          </a:xfrm>
          <a:prstGeom prst="rect">
            <a:avLst/>
          </a:prstGeom>
          <a:solidFill>
            <a:srgbClr val="1E3050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686800" y="4507992"/>
            <a:ext cx="502920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95944" y="4526280"/>
            <a:ext cx="484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4379976"/>
            <a:ext cx="8503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سجل تدقيق مدمج — كل عملية دخول أو تعديل مؤثقة تلقائياً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148072"/>
            <a:ext cx="8229600" cy="804672"/>
          </a:xfrm>
          <a:prstGeom prst="rect">
            <a:avLst/>
          </a:prstGeom>
          <a:solidFill>
            <a:srgbClr val="243860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5330952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ضبط الصلاحيات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0" y="5148072"/>
            <a:ext cx="9281160" cy="804672"/>
          </a:xfrm>
          <a:prstGeom prst="rect">
            <a:avLst/>
          </a:prstGeom>
          <a:solidFill>
            <a:srgbClr val="243860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86800" y="5349240"/>
            <a:ext cx="502920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95944" y="5367528"/>
            <a:ext cx="484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5221224"/>
            <a:ext cx="8503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Admin يملك التحكم الكامل CRUD — صلاحيات منفصلة لكل دور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8823960"/>
            <a:ext cx="5394960" cy="109728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8887968"/>
            <a:ext cx="5394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2A4A"/>
                </a:solidFill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941832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A4A"/>
                </a:solidFill>
              </a:rPr>
              <a:t>مستويات الوصول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52160" y="8823960"/>
            <a:ext cx="5394960" cy="109728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52160" y="8887968"/>
            <a:ext cx="5394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2A4A"/>
                </a:solidFill>
              </a:rPr>
              <a:t>100%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52160" y="941832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A4A"/>
                </a:solidFill>
              </a:rPr>
              <a:t>بيانات محلية آمنة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384280" y="8823960"/>
            <a:ext cx="5394960" cy="109728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384280" y="8887968"/>
            <a:ext cx="5394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2A4A"/>
                </a:solidFill>
              </a:rPr>
              <a:t>متوافق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941832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2A4A"/>
                </a:solidFill>
              </a:rPr>
              <a:t>مع القانون الاتحادي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Seamless integration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all school management tasks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بوابة متكاملة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Real-time analytics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tracking student performance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تحليل فوري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Distance learning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resources for flexible education options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نظام التعلم عن بُعد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049371" y="1028700"/>
            <a:ext cx="14189259" cy="1710692"/>
            <a:chOff x="0" y="0"/>
            <a:chExt cx="18919012" cy="2280923"/>
          </a:xfrm>
        </p:grpSpPr>
        <p:sp>
          <p:nvSpPr>
            <p:cNvPr name="TextBox 21" id="21"/>
            <p:cNvSpPr txBox="true"/>
            <p:nvPr/>
          </p:nvSpPr>
          <p:spPr>
            <a:xfrm rot="0">
              <a:off x="0" y="1057911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  <a:r>
                <a:rPr lang="ar-EG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الحل | 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Th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e Solution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-133350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Full access to manage all sections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المدير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View data and submit necessary forms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المعلمون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Create forms and view important reports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الإداريون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أدوار المستخدمين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105025" y="3686175"/>
            <a:ext cx="6886575" cy="2265045"/>
            <a:chOff x="0" y="0"/>
            <a:chExt cx="9182100" cy="302006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57150"/>
              <a:ext cx="9182100" cy="11493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6480"/>
                </a:lnSpc>
              </a:pP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1431925"/>
              <a:ext cx="91821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نضمن حماية البيانات من خلال تشفير كلمات المرور والتحكم الدقيق في وصول المستخدمين وبيانات محمية بالكامل.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528440" y="2701290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تدابير الأمان لحماية بيانات الطلاب والموظفين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938713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أكثر من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920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 طالب وطالبة، بمتوسط درجات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83.9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%، ونسبة نجاح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100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 في الفصل الدراسي الثاني.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النتائج المحققة من بوابة الجود الرقمية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577340"/>
            <a:chOff x="0" y="0"/>
            <a:chExt cx="6159500" cy="2103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14985"/>
              <a:ext cx="61595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Showcases student achievements and milestones effectively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إنجازات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86815"/>
            <a:chOff x="0" y="0"/>
            <a:chExt cx="5972338" cy="15824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149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Lists upcoming school events and activities clearly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فعاليات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86815"/>
            <a:chOff x="0" y="0"/>
            <a:chExt cx="6160551" cy="15824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149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Facilitates smart digital forms for efficient submissions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نماذج رقمية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C9A84C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مميزات إضافية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ستتوسع بوابة الجود الرقمية على ثلاث مراحل، لتشمل ميزات جديدة لإشراك ولي الأمر وتعزيز تجربة التعليم.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خارطة الطريق لتوسيع بوابة الجود الرقمية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3629025"/>
            <a:ext cx="6886575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48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نقدم نموذجاً مبتكراً يسهم في </a:t>
            </a:r>
            <a:r>
              <a:rPr lang="ar-EG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تحقيق رؤية الإمارات </a:t>
            </a:r>
            <a:r>
              <a:rPr lang="en-US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2071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، ويعزز التعليم الذكي والمستدام لكافة المدارس.</a:t>
            </a:r>
          </a:p>
        </p:txBody>
      </p:sp>
      <p:sp>
        <p:nvSpPr>
          <p:cNvPr name="Freeform 7" id="7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رؤية مستقبلية للتعليم في الإمارات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-5400000">
            <a:off x="10401585" y="2266950"/>
            <a:ext cx="7158835" cy="5753100"/>
          </a:xfrm>
          <a:custGeom>
            <a:avLst/>
            <a:gdLst/>
            <a:ahLst/>
            <a:cxnLst/>
            <a:rect r="r" b="b" t="t" l="l"/>
            <a:pathLst>
              <a:path h="5753100" w="7158835">
                <a:moveTo>
                  <a:pt x="7158835" y="0"/>
                </a:moveTo>
                <a:lnTo>
                  <a:pt x="0" y="0"/>
                </a:lnTo>
                <a:lnTo>
                  <a:pt x="0" y="5753100"/>
                </a:lnTo>
                <a:lnTo>
                  <a:pt x="7158835" y="5753100"/>
                </a:lnTo>
                <a:lnTo>
                  <a:pt x="7158835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477349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717740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095651" y="8801114"/>
            <a:ext cx="343598" cy="342900"/>
          </a:xfrm>
          <a:custGeom>
            <a:avLst/>
            <a:gdLst/>
            <a:ahLst/>
            <a:cxnLst/>
            <a:rect r="r" b="b" t="t" l="l"/>
            <a:pathLst>
              <a:path h="342900" w="343598">
                <a:moveTo>
                  <a:pt x="0" y="0"/>
                </a:moveTo>
                <a:lnTo>
                  <a:pt x="343598" y="0"/>
                </a:lnTo>
                <a:lnTo>
                  <a:pt x="343598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105025" y="2745105"/>
            <a:ext cx="8324850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b="true" sz="2400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نقدر وقتكم واهتمامكم بمشروعنا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238500" y="6038870"/>
            <a:ext cx="6057900" cy="727670"/>
            <a:chOff x="0" y="0"/>
            <a:chExt cx="8077200" cy="970226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البريد الإلكتروني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 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Ha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lima.Almaamari@moe.sch.ae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238500" y="7018060"/>
            <a:ext cx="6057900" cy="727670"/>
            <a:chOff x="0" y="0"/>
            <a:chExt cx="8077200" cy="970226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رقم الهاتف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0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37016615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8500" y="7997244"/>
            <a:ext cx="6057900" cy="727670"/>
            <a:chOff x="0" y="0"/>
            <a:chExt cx="8077200" cy="970226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ar-EG" b="true" sz="2400" strike="noStrike" u="none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وسائل التواصل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ljood_school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221795" y="1518284"/>
            <a:ext cx="8324850" cy="1217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8969"/>
              </a:lnSpc>
            </a:pPr>
            <a:r>
              <a:rPr lang="ar-EG" b="true" sz="6899">
                <a:solidFill>
                  <a:srgbClr val="C9A84C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شكراً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مدرسة الجود الرقمية</dc:description>
  <dc:identifier>DAHGWXkCvJo</dc:identifier>
  <dcterms:modified xsi:type="dcterms:W3CDTF">2011-08-01T06:04:30Z</dcterms:modified>
  <cp:revision>1</cp:revision>
  <dc:title>Presentation - مدرسة الجود الرقمية</dc:title>
</cp:coreProperties>
</file>