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صدر المرسوم الاتحادي رقم (2) لسنة 2026 في يناير 2026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يُلزم المدارس بتنظيم الوصول الرقمي وحماية بيانات الطلاب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يشترط توثيق هوية المستخدمين وضبط صلاحيات الوصول بدقة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يُوجب توفير أدوات رقابة لأولياء الأمور على النشاط الرقمي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يُلزم بالإبلاغ عن أي اختراق لخصوصية البيانات الرقمية للطفل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SA" dirty="0" b="1" sz="3000">
                <a:solidFill>
                  <a:srgbClr val="C9A84C"/>
                </a:solidFill>
                <a:latin typeface="Noto Sans Arabic"/>
                <a:ea typeface="Noto Sans Arabic"/>
              </a:rPr>
              <a:t>السياق الوطني: قانون سلامة الطفل الرقمي</a:t>
            </a:r>
          </a:p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en-US" dirty="0" sz="1800">
                <a:solidFill>
                  <a:srgbClr val="BBBBBB"/>
                </a:solidFill>
                <a:latin typeface="Calibri"/>
              </a:rPr>
              <a:t>National Context: UAE Child Digital Safety Law — Federal Decree No. 2 /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46645" y="2506609"/>
            <a:ext cx="428577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9A84C"/>
                </a:solidFill>
                <a:latin typeface="Arial"/>
              </a:rPr>
              <a:t>أبرز أحكام القانون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46645" y="3006609"/>
            <a:ext cx="4285772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CDD"/>
                </a:solidFill>
                <a:latin typeface="Arial"/>
              </a:rPr>
              <a:t>Key Provisions of Federal Decree No. 2 /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46645" y="3406609"/>
            <a:ext cx="3885772" cy="3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746645" y="3526609"/>
            <a:ext cx="380000" cy="3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2A4A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96645" y="3506609"/>
            <a:ext cx="373577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حماية بيانات الطلاب الرقمية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96645" y="3766609"/>
            <a:ext cx="3735772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CCDD"/>
                </a:solidFill>
                <a:latin typeface="Arial"/>
              </a:rPr>
              <a:t>Student Digital Data Protection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46645" y="4156609"/>
            <a:ext cx="380000" cy="3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2A4A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96645" y="4136609"/>
            <a:ext cx="373577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توثيق هوية المستخدمين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96645" y="4396609"/>
            <a:ext cx="3735772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CCDD"/>
                </a:solidFill>
                <a:latin typeface="Arial"/>
              </a:rPr>
              <a:t>User Identity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46645" y="4786609"/>
            <a:ext cx="380000" cy="3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2A4A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96645" y="4766609"/>
            <a:ext cx="373577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رقابة أولياء الأمور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96645" y="5026609"/>
            <a:ext cx="3735772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CCDD"/>
                </a:solidFill>
                <a:latin typeface="Arial"/>
              </a:rPr>
              <a:t>Parental Monitoring Tools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46645" y="5416609"/>
            <a:ext cx="380000" cy="3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2A4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96645" y="5396609"/>
            <a:ext cx="373577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الإبلاغ عن الاختراقات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96645" y="5656609"/>
            <a:ext cx="3735772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CCDD"/>
                </a:solidFill>
                <a:latin typeface="Arial"/>
              </a:rPr>
              <a:t>Breach Reporting Obligation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46645" y="6046609"/>
            <a:ext cx="380000" cy="38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2A4A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96645" y="6026609"/>
            <a:ext cx="3735772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ضبط صلاحيات الوصول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96645" y="6286609"/>
            <a:ext cx="3735772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BCCDD"/>
                </a:solidFill>
                <a:latin typeface="Arial"/>
              </a:rPr>
              <a:t>Access Control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نظام صلاحيات متعدد المستويات: مدير، معلم، إداري، مديرة، ولي أمر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بيانات الطلاب محمية محلياً — لا تُرفع لخوادم خارجية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لوحة رقابة خاصة بمديرة المدرسة لمتابعة الأنشطة الرقمية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بوابة أولياء الأمور (قريباً) — اطلاع على بيانات أبنائهم فقط</a:t>
            </a:r>
          </a:p>
          <a:p>
            <a:pPr algn="ctr" rtl="true" marL="0" indent="0" lvl="0">
              <a:lnSpc>
                <a:spcPts val="3120"/>
              </a:lnSpc>
            </a:pPr>
            <a:r>
              <a:rPr lang="ar-SA" dirty="0" sz="1900">
                <a:solidFill>
                  <a:srgbClr val="FFFFFF"/>
                </a:solidFill>
                <a:latin typeface="Noto Sans Arabic"/>
                <a:ea typeface="Noto Sans Arabic"/>
              </a:rPr>
              <a:t>امتثال تام لاشتراطات المرسوم الاتحادي رقم (2) لسنة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SA" dirty="0" b="1" sz="3000">
                <a:solidFill>
                  <a:srgbClr val="C9A84C"/>
                </a:solidFill>
                <a:latin typeface="Noto Sans Arabic"/>
                <a:ea typeface="Noto Sans Arabic"/>
              </a:rPr>
              <a:t>بوابة مدرسة الجود وقانون الطفل الرقمي</a:t>
            </a:r>
          </a:p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en-US" dirty="0" sz="1800">
                <a:solidFill>
                  <a:srgbClr val="BBBBBB"/>
                </a:solidFill>
                <a:latin typeface="Calibri"/>
              </a:rPr>
              <a:t>Al Jood Portal Alignment with Child Digital Safety Law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46645" y="2506609"/>
            <a:ext cx="428577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C9A84C"/>
                </a:solidFill>
                <a:latin typeface="Arial"/>
              </a:rPr>
              <a:t>مقارنة: القانون vs البوابة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46645" y="3006609"/>
            <a:ext cx="428577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CDD"/>
                </a:solidFill>
                <a:latin typeface="Arial"/>
              </a:rPr>
              <a:t>Law Requirement  vs  Portal 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46645" y="3356609"/>
            <a:ext cx="3885772" cy="3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6645" y="3406609"/>
            <a:ext cx="35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DD39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6645" y="3406609"/>
            <a:ext cx="388577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حماية البيانات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6645" y="3666609"/>
            <a:ext cx="388577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9A84C"/>
                </a:solidFill>
                <a:latin typeface="Arial"/>
              </a:rPr>
              <a:t>localStorage — لا سحابة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6645" y="4086609"/>
            <a:ext cx="35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DD39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6645" y="4086609"/>
            <a:ext cx="388577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توثيق الهوية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6645" y="4346609"/>
            <a:ext cx="388577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9A84C"/>
                </a:solidFill>
                <a:latin typeface="Arial"/>
              </a:rPr>
              <a:t>تسجيل دخول متعدد الأدوار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6645" y="4766609"/>
            <a:ext cx="35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DD39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6645" y="4766609"/>
            <a:ext cx="388577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رقابة أولياء الأمور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6645" y="5026609"/>
            <a:ext cx="388577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9A84C"/>
                </a:solidFill>
                <a:latin typeface="Arial"/>
              </a:rPr>
              <a:t>بوابة ولي الأمر قريباً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6645" y="5446609"/>
            <a:ext cx="35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DD39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6645" y="5446609"/>
            <a:ext cx="388577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ضبط الصلاحيات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46645" y="5706609"/>
            <a:ext cx="388577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9A84C"/>
                </a:solidFill>
                <a:latin typeface="Arial"/>
              </a:rPr>
              <a:t>5 مستويات وصول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6645" y="6126609"/>
            <a:ext cx="35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5DD39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6645" y="6126609"/>
            <a:ext cx="3885772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الشفافية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6645" y="6386609"/>
            <a:ext cx="388577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9A84C"/>
                </a:solidFill>
                <a:latin typeface="Arial"/>
              </a:rPr>
              <a:t>لوحة تحليل النتائج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