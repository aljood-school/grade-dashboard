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8288000" cy="96012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773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9A84C"/>
                </a:solidFill>
                <a:latin typeface="Arial"/>
              </a:rPr>
              <a:t>السياق الوطني: قانون سلامة الطفل الرقمي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773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UAE Federal Decree No. 2 / 2026 — Child Digital Safety 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33271"/>
            <a:ext cx="182880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303520" cy="1920240"/>
          </a:xfrm>
          <a:prstGeom prst="rect">
            <a:avLst/>
          </a:prstGeom>
          <a:solidFill>
            <a:srgbClr val="22355E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109728" cy="19202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1399032"/>
            <a:ext cx="640080" cy="502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39903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حماية البيانات الرقمية للطلاب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9A84C"/>
                </a:solidFill>
                <a:latin typeface="Arial"/>
              </a:rPr>
              <a:t>Student Digital Data 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234440"/>
            <a:ext cx="5303520" cy="1920240"/>
          </a:xfrm>
          <a:prstGeom prst="rect">
            <a:avLst/>
          </a:prstGeom>
          <a:solidFill>
            <a:srgbClr val="22355E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234440"/>
            <a:ext cx="109728" cy="19202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93408" y="1399032"/>
            <a:ext cx="640080" cy="502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139903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1965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توثيق هوية المستخدمين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9A84C"/>
                </a:solidFill>
                <a:latin typeface="Arial"/>
              </a:rPr>
              <a:t>User Identity Verification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298680" y="1234440"/>
            <a:ext cx="5303520" cy="1920240"/>
          </a:xfrm>
          <a:prstGeom prst="rect">
            <a:avLst/>
          </a:prstGeom>
          <a:solidFill>
            <a:srgbClr val="22355E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298680" y="1234440"/>
            <a:ext cx="109728" cy="19202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499848" y="1399032"/>
            <a:ext cx="640080" cy="502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99848" y="139903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0" y="1965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رقابة أولياء الأمور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9A84C"/>
                </a:solidFill>
                <a:latin typeface="Arial"/>
              </a:rPr>
              <a:t>Parental Monitoring &amp;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89020" y="3429000"/>
            <a:ext cx="5303520" cy="1920240"/>
          </a:xfrm>
          <a:prstGeom prst="rect">
            <a:avLst/>
          </a:prstGeom>
          <a:solidFill>
            <a:srgbClr val="22355E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89020" y="3429000"/>
            <a:ext cx="109728" cy="19202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0188" y="3593592"/>
            <a:ext cx="640080" cy="502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0188" y="35935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26180" y="41605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الإبلاغ الفوري عن الاختراقات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2618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9A84C"/>
                </a:solidFill>
                <a:latin typeface="Arial"/>
              </a:rPr>
              <a:t>Mandatory Breach Reporting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95460" y="3429000"/>
            <a:ext cx="5303520" cy="1920240"/>
          </a:xfrm>
          <a:prstGeom prst="rect">
            <a:avLst/>
          </a:prstGeom>
          <a:solidFill>
            <a:srgbClr val="22355E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95460" y="3429000"/>
            <a:ext cx="109728" cy="19202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96628" y="3593592"/>
            <a:ext cx="640080" cy="502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96628" y="35935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Arial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32620" y="41605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ضبط صلاحيات الوصول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262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9A84C"/>
                </a:solidFill>
                <a:latin typeface="Arial"/>
              </a:rPr>
              <a:t>Granular Access Control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9784080"/>
            <a:ext cx="18288000" cy="50292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9784080"/>
            <a:ext cx="182880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9857232"/>
            <a:ext cx="1773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أول تشريع اتحادي إماراتي لحماية الطفل في الفضاء الرقمي — يناير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8288000" cy="96012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773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9A84C"/>
                </a:solidFill>
                <a:latin typeface="Arial"/>
              </a:rPr>
              <a:t>كيف تُجسّد بوابة الجود أحكام القانون؟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773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Al Jood Portal — Compliance with Child Digital Safety 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33271"/>
            <a:ext cx="182880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601968" cy="5943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66019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A4A"/>
                </a:solidFill>
                <a:latin typeface="Arial"/>
              </a:rPr>
              <a:t>متطلب القانون</a:t>
            </a:r>
          </a:p>
        </p:txBody>
      </p:sp>
      <p:sp>
        <p:nvSpPr>
          <p:cNvPr id="9" name="Rectangle 8"/>
          <p:cNvSpPr/>
          <p:nvPr/>
        </p:nvSpPr>
        <p:spPr>
          <a:xfrm>
            <a:off x="7059168" y="1234440"/>
            <a:ext cx="10771632" cy="594360"/>
          </a:xfrm>
          <a:prstGeom prst="rect">
            <a:avLst/>
          </a:prstGeom>
          <a:solidFill>
            <a:srgbClr val="22355E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9168" y="1234440"/>
            <a:ext cx="107716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9A84C"/>
                </a:solidFill>
                <a:latin typeface="Arial"/>
              </a:rPr>
              <a:t>ميزة بوابة مدرسة الجود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6601968" cy="804672"/>
          </a:xfrm>
          <a:prstGeom prst="rect">
            <a:avLst/>
          </a:prstGeom>
          <a:solidFill>
            <a:srgbClr val="1A2A4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82296" cy="804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901952"/>
            <a:ext cx="64190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حماية البيانات الرقمية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59168" y="1828800"/>
            <a:ext cx="10771632" cy="804672"/>
          </a:xfrm>
          <a:prstGeom prst="rect">
            <a:avLst/>
          </a:prstGeom>
          <a:solidFill>
            <a:srgbClr val="1A2A4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1901952"/>
            <a:ext cx="104973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Arial"/>
              </a:rPr>
              <a:t>✓  بيانات محلية فقط — لا سحابة خارجية — localStorage آمن 100%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33472"/>
            <a:ext cx="6601968" cy="804672"/>
          </a:xfrm>
          <a:prstGeom prst="rect">
            <a:avLst/>
          </a:prstGeom>
          <a:solidFill>
            <a:srgbClr val="22355E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633472"/>
            <a:ext cx="82296" cy="804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06624"/>
            <a:ext cx="64190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توثيق هوية المستخدمين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9168" y="2633472"/>
            <a:ext cx="10771632" cy="804672"/>
          </a:xfrm>
          <a:prstGeom prst="rect">
            <a:avLst/>
          </a:prstGeom>
          <a:solidFill>
            <a:srgbClr val="22355E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42048" y="2706624"/>
            <a:ext cx="104973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Arial"/>
              </a:rPr>
              <a:t>✓  5 أدوار مستقلة: مدير، مديرة، معلم، إداري، ولي أمر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38144"/>
            <a:ext cx="6601968" cy="804672"/>
          </a:xfrm>
          <a:prstGeom prst="rect">
            <a:avLst/>
          </a:prstGeom>
          <a:solidFill>
            <a:srgbClr val="1A2A4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438144"/>
            <a:ext cx="82296" cy="804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511296"/>
            <a:ext cx="64190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رقابة أولياء الأمور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59168" y="3438144"/>
            <a:ext cx="10771632" cy="804672"/>
          </a:xfrm>
          <a:prstGeom prst="rect">
            <a:avLst/>
          </a:prstGeom>
          <a:solidFill>
            <a:srgbClr val="1A2A4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42048" y="3511296"/>
            <a:ext cx="104973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Arial"/>
              </a:rPr>
              <a:t>✓  بوابة ولي الأمر — تطوير قريب مع بيانات الطلاب الكاملة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42816"/>
            <a:ext cx="6601968" cy="804672"/>
          </a:xfrm>
          <a:prstGeom prst="rect">
            <a:avLst/>
          </a:prstGeom>
          <a:solidFill>
            <a:srgbClr val="22355E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242816"/>
            <a:ext cx="82296" cy="804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15968"/>
            <a:ext cx="64190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الإبلاغ عن الاختراقات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59168" y="4242816"/>
            <a:ext cx="10771632" cy="804672"/>
          </a:xfrm>
          <a:prstGeom prst="rect">
            <a:avLst/>
          </a:prstGeom>
          <a:solidFill>
            <a:srgbClr val="22355E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42048" y="4315968"/>
            <a:ext cx="104973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Arial"/>
              </a:rPr>
              <a:t>✓  سجل تدقيق مدمج — كل عملية دخول أو تعديل موثّقة تلقائياً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047488"/>
            <a:ext cx="6601968" cy="804672"/>
          </a:xfrm>
          <a:prstGeom prst="rect">
            <a:avLst/>
          </a:prstGeom>
          <a:solidFill>
            <a:srgbClr val="1A2A4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047488"/>
            <a:ext cx="82296" cy="804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120640"/>
            <a:ext cx="64190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ضبط صلاحيات الوصول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59168" y="5047488"/>
            <a:ext cx="10771632" cy="804672"/>
          </a:xfrm>
          <a:prstGeom prst="rect">
            <a:avLst/>
          </a:prstGeom>
          <a:solidFill>
            <a:srgbClr val="1A2A4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42048" y="5120640"/>
            <a:ext cx="104973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Arial"/>
              </a:rPr>
              <a:t>✓  Admin يملك التحكم الكامل — CRUD منفصلة لكل دور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016752"/>
            <a:ext cx="17373600" cy="1005840"/>
          </a:xfrm>
          <a:prstGeom prst="rect">
            <a:avLst/>
          </a:prstGeom>
          <a:solidFill>
            <a:srgbClr val="0F1A30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062472"/>
            <a:ext cx="579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65392"/>
            <a:ext cx="579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مستويات الوصول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8400" y="6153912"/>
            <a:ext cx="18288" cy="7315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8400" y="6062472"/>
            <a:ext cx="579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Arial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8400" y="6565392"/>
            <a:ext cx="579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بيانات محلية آمنة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039600" y="6153912"/>
            <a:ext cx="18288" cy="7315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039600" y="6062472"/>
            <a:ext cx="579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C9A84C"/>
                </a:solidFill>
                <a:latin typeface="Arial"/>
              </a:rPr>
              <a:t>متوافق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039600" y="6565392"/>
            <a:ext cx="579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مع القانون الاتحادي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9784080"/>
            <a:ext cx="18288000" cy="50292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9784080"/>
            <a:ext cx="182880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9857232"/>
            <a:ext cx="1773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بوابة مدرسة الجود الرقمية — نموذج امتثال متكامل مع التشريع الإماراتي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