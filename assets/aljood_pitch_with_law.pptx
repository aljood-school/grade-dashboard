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id="5" name="Rectangle 4"/>
          <p:cNvSpPr/>
          <p:nvPr/>
        </p:nvSpPr>
        <p:spPr>
          <a:xfrm>
            <a:off x="432000" y="540000"/>
            <a:ext cx="17424000" cy="9387000"/>
          </a:xfrm>
          <a:prstGeom prst="rect">
            <a:avLst/>
          </a:prstGeom>
          <a:solidFill>
            <a:srgbClr val="0F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540000"/>
            <a:ext cx="17424000" cy="1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827999"/>
            <a:ext cx="172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9A84C"/>
                </a:solidFill>
                <a:latin typeface="Noto Sans Arabic"/>
              </a:rPr>
              <a:t>السياق الوطني: قانون سلامة الطفل الرقمي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332000"/>
            <a:ext cx="172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Noto Sans Arabic"/>
              </a:rPr>
              <a:t>UAE Federal Decree No. 2 / 2026 — Child Digital Safety Law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0000" y="1655999"/>
            <a:ext cx="16128000" cy="21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800000"/>
            <a:ext cx="17028000" cy="52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8000" y="1800000"/>
            <a:ext cx="396000" cy="522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1800000"/>
            <a:ext cx="3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08000" y="1925999"/>
            <a:ext cx="251999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000" y="1818000"/>
            <a:ext cx="1602000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Noto Sans Arabic"/>
              </a:rPr>
              <a:t>حماية بيانات الطلاب الرقمية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6000" y="2070000"/>
            <a:ext cx="1602000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Noto Sans Arabic"/>
              </a:rPr>
              <a:t>Student Digital Data Protection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8000" y="2412000"/>
            <a:ext cx="17028000" cy="52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8000" y="2412000"/>
            <a:ext cx="396000" cy="522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000" y="2412000"/>
            <a:ext cx="3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208000" y="2537999"/>
            <a:ext cx="251999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6000" y="2430000"/>
            <a:ext cx="1602000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Noto Sans Arabic"/>
              </a:rPr>
              <a:t>توثيق هوية المستخدمين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6000" y="2682000"/>
            <a:ext cx="1602000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Noto Sans Arabic"/>
              </a:rPr>
              <a:t>User Identity 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8000" y="3024000"/>
            <a:ext cx="17028000" cy="52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8000" y="3024000"/>
            <a:ext cx="396000" cy="522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3024000"/>
            <a:ext cx="3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208000" y="3149999"/>
            <a:ext cx="251999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6000" y="3042000"/>
            <a:ext cx="1602000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Noto Sans Arabic"/>
              </a:rPr>
              <a:t>رقابة أولياء الأمور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6000" y="3294000"/>
            <a:ext cx="1602000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Noto Sans Arabic"/>
              </a:rPr>
              <a:t>Parental Monitoring Tools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8000" y="3636000"/>
            <a:ext cx="17028000" cy="52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8000" y="3636000"/>
            <a:ext cx="396000" cy="522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" y="3636000"/>
            <a:ext cx="3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208000" y="3761999"/>
            <a:ext cx="251999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6000" y="3654000"/>
            <a:ext cx="1602000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Noto Sans Arabic"/>
              </a:rPr>
              <a:t>الإبلاغ عن الاختراقات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6000" y="3906000"/>
            <a:ext cx="1602000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Noto Sans Arabic"/>
              </a:rPr>
              <a:t>Breach Reporting Obligation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8000" y="4248000"/>
            <a:ext cx="17028000" cy="52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8000" y="4248000"/>
            <a:ext cx="396000" cy="522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8000" y="4248000"/>
            <a:ext cx="3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208000" y="4373999"/>
            <a:ext cx="251999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16000" y="4266000"/>
            <a:ext cx="1602000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Noto Sans Arabic"/>
              </a:rPr>
              <a:t>ضبط صلاحيات الوصول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6000" y="4518000"/>
            <a:ext cx="1602000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Noto Sans Arabic"/>
              </a:rPr>
              <a:t>Access Control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id="5" name="Rectangle 4"/>
          <p:cNvSpPr/>
          <p:nvPr/>
        </p:nvSpPr>
        <p:spPr>
          <a:xfrm>
            <a:off x="432000" y="540000"/>
            <a:ext cx="17424000" cy="9387000"/>
          </a:xfrm>
          <a:prstGeom prst="rect">
            <a:avLst/>
          </a:prstGeom>
          <a:solidFill>
            <a:srgbClr val="0F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2000" y="540000"/>
            <a:ext cx="17424000" cy="1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827999"/>
            <a:ext cx="1720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9A84C"/>
                </a:solidFill>
                <a:latin typeface="Noto Sans Arabic"/>
              </a:rPr>
              <a:t>كيف تُجسّد بوابة الجود أحكام القانون؟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260000"/>
            <a:ext cx="172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Noto Sans Arabic"/>
              </a:rPr>
              <a:t>How Al Jood Portal Implements the Child Digital Safety Law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20000"/>
            <a:ext cx="8496000" cy="251999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1620000"/>
            <a:ext cx="849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9A84C"/>
                </a:solidFill>
                <a:latin typeface="Noto Sans Arabic"/>
              </a:rPr>
              <a:t>متطلب القانون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52000" y="1620000"/>
            <a:ext cx="8496000" cy="25199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52000" y="1620000"/>
            <a:ext cx="849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A4A"/>
                </a:solidFill>
                <a:latin typeface="Noto Sans Arabic"/>
              </a:rPr>
              <a:t>ميزة البوابة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19440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1980000"/>
            <a:ext cx="83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حماية بيانات الطلاب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52000" y="19440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424000" y="2016000"/>
            <a:ext cx="198000" cy="198000"/>
          </a:xfrm>
          <a:prstGeom prst="rect">
            <a:avLst/>
          </a:prstGeom>
          <a:solidFill>
            <a:srgbClr val="4C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4000" y="1980000"/>
            <a:ext cx="80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بيانات محلية — لا سحابة خارجية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2350800"/>
            <a:ext cx="8496000" cy="342000"/>
          </a:xfrm>
          <a:prstGeom prst="rect">
            <a:avLst/>
          </a:prstGeom>
          <a:solidFill>
            <a:srgbClr val="22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000" y="2386800"/>
            <a:ext cx="83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توثيق هوية المستخدمين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52000" y="2350800"/>
            <a:ext cx="8496000" cy="342000"/>
          </a:xfrm>
          <a:prstGeom prst="rect">
            <a:avLst/>
          </a:prstGeom>
          <a:solidFill>
            <a:srgbClr val="22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424000" y="2422800"/>
            <a:ext cx="198000" cy="198000"/>
          </a:xfrm>
          <a:prstGeom prst="rect">
            <a:avLst/>
          </a:prstGeom>
          <a:solidFill>
            <a:srgbClr val="4C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4000" y="2386800"/>
            <a:ext cx="80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نظام تسجيل دخول بـ 5 مستويات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27576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000" y="2793600"/>
            <a:ext cx="83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رقابة أولياء الأمور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2000" y="27576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424000" y="2829600"/>
            <a:ext cx="198000" cy="198000"/>
          </a:xfrm>
          <a:prstGeom prst="rect">
            <a:avLst/>
          </a:prstGeom>
          <a:solidFill>
            <a:srgbClr val="4C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4000" y="2793600"/>
            <a:ext cx="80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بوابة ولي الأمر — قريباً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3164400"/>
            <a:ext cx="8496000" cy="342000"/>
          </a:xfrm>
          <a:prstGeom prst="rect">
            <a:avLst/>
          </a:prstGeom>
          <a:solidFill>
            <a:srgbClr val="22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000" y="3200400"/>
            <a:ext cx="83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الإبلاغ عن الاختراقات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52000" y="3164400"/>
            <a:ext cx="8496000" cy="342000"/>
          </a:xfrm>
          <a:prstGeom prst="rect">
            <a:avLst/>
          </a:prstGeom>
          <a:solidFill>
            <a:srgbClr val="2235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424000" y="3236400"/>
            <a:ext cx="198000" cy="198000"/>
          </a:xfrm>
          <a:prstGeom prst="rect">
            <a:avLst/>
          </a:prstGeom>
          <a:solidFill>
            <a:srgbClr val="4C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4000" y="3200400"/>
            <a:ext cx="80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سجل تدقيق مدمج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35712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000" y="3607200"/>
            <a:ext cx="83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ضبط صلاحيات الوصول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52000" y="3571200"/>
            <a:ext cx="8496000" cy="342000"/>
          </a:xfrm>
          <a:prstGeom prst="rect">
            <a:avLst/>
          </a:prstGeom>
          <a:solidFill>
            <a:srgbClr val="1E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424000" y="3643200"/>
            <a:ext cx="198000" cy="198000"/>
          </a:xfrm>
          <a:prstGeom prst="rect">
            <a:avLst/>
          </a:prstGeom>
          <a:solidFill>
            <a:srgbClr val="4CC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4000" y="3607200"/>
            <a:ext cx="8064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Noto Sans Arabic"/>
              </a:rPr>
              <a:t>صلاحيات CRUD منفصلة لكل دور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8000" y="4122000"/>
            <a:ext cx="5604000" cy="39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000" y="4122000"/>
            <a:ext cx="560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000" y="4320000"/>
            <a:ext cx="560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A4A"/>
                </a:solidFill>
                <a:latin typeface="Noto Sans Arabic"/>
              </a:rPr>
              <a:t>مستويات وصول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24000" y="4122000"/>
            <a:ext cx="5604000" cy="39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4000" y="4122000"/>
            <a:ext cx="560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4000" y="4320000"/>
            <a:ext cx="560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A4A"/>
                </a:solidFill>
                <a:latin typeface="Noto Sans Arabic"/>
              </a:rPr>
              <a:t>بيانات محلية آمنة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000000" y="4122000"/>
            <a:ext cx="5604000" cy="39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000000" y="4122000"/>
            <a:ext cx="560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2A4A"/>
                </a:solidFill>
                <a:latin typeface="Noto Sans Arabic"/>
              </a:rPr>
              <a:t>متوافق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00000" y="4320000"/>
            <a:ext cx="5604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2A4A"/>
                </a:solidFill>
                <a:latin typeface="Noto Sans Arabic"/>
              </a:rPr>
              <a:t>مع القانون الاتحادي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